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/Relationships>
</file>

<file path=ppt/slides/_rels/slide4.xml.rels><?xml version="1.0" encoding="UTF-8" standalone="yes"?>
<Relationships xmlns="http://schemas.openxmlformats.org/package/2006/relationships"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/Relationships>
</file>

<file path=ppt/slides/_rels/slide11.xml.rels><?xml version="1.0" encoding="UTF-8" standalone="yes"?>
<Relationships xmlns="http://schemas.openxmlformats.org/package/2006/relationships"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/Relationships>
</file>

<file path=ppt/slides/_rels/slide16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514350"/>
            <a:ext cx="7048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0F766E"/>
                </a:solidFill>
                <a:latin typeface="Aptos"/>
                <a:cs typeface="Aptos"/>
              </a:rPr>
              <a:t>REIMPLEMENTATION AND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1066800"/>
            <a:ext cx="6191250" cy="1238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IEPS + SCF</a:t>
            </a:r>
          </a:p>
          <a:p>
            <a:pPr algn="l"/>
            <a:r>
              <a:rPr lang="en-US" sz="3800" b="1" dirty="0">
                <a:solidFill>
                  <a:srgbClr val="111827"/>
                </a:solidFill>
                <a:latin typeface="Aptos"/>
                <a:cs typeface="Aptos"/>
              </a:rPr>
              <a:t>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2400300"/>
            <a:ext cx="68580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 of Hsu et al. (ICARCV 2010)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3638550"/>
            <a:ext cx="32575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363855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37909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Final research question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4114800"/>
            <a:ext cx="29527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Can the method be rebuilt from the paper description and validated on author-style circle and U-shape images, including noise, while identifying missing implementation choices?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3638550"/>
            <a:ext cx="2857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4095750" y="363855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4267200" y="379095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Core claim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267200" y="4114800"/>
            <a:ext cx="255270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method is reproducible for star-convex shapes; concave U-shapes expose under-specified assumptions in IEPS and SCF.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0" y="2155825"/>
            <a:ext cx="3619500" cy="60325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7810500" y="388620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Project-generated U-shape noisy IEPS + SCF panel</a:t>
            </a:r>
          </a:p>
        </p:txBody>
      </p:sp>
      <p:sp>
        <p:nvSpPr>
          <p:cNvPr id="16" name="rect"/>
          <p:cNvSpPr/>
          <p:nvPr/>
        </p:nvSpPr>
        <p:spPr>
          <a:xfrm>
            <a:off x="7810500" y="4095750"/>
            <a:ext cx="3619500" cy="81915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39100" y="4324350"/>
            <a:ext cx="3162300" cy="361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  <a:latin typeface="Aptos"/>
                <a:cs typeface="Aptos"/>
              </a:rPr>
              <a:t>Contribution: implementation + validation + missing-detail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FRAMING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Research direction after professor feedback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is not a broad Canny comparison. It is a reproducibility study of the paper's own IEPS + SCF pipeline.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847850"/>
            <a:ext cx="66675" cy="16192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Original risk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A broad edge-detector comparison would drift away from the authors' contribution and become a generic segmentation project.</a:t>
            </a:r>
          </a:p>
        </p:txBody>
      </p:sp>
      <p:sp>
        <p:nvSpPr>
          <p:cNvPr id="11" name="rect"/>
          <p:cNvSpPr/>
          <p:nvPr/>
        </p:nvSpPr>
        <p:spPr>
          <a:xfrm>
            <a:off x="443865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38650" y="1847850"/>
            <a:ext cx="66675" cy="16192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1010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Correct focus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1010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Reimplement IEPS and SCF, test the same style of synthetic images, and document the assumptions needed for executable code.</a:t>
            </a:r>
          </a:p>
        </p:txBody>
      </p:sp>
      <p:sp>
        <p:nvSpPr>
          <p:cNvPr id="15" name="rect"/>
          <p:cNvSpPr/>
          <p:nvPr/>
        </p:nvSpPr>
        <p:spPr>
          <a:xfrm>
            <a:off x="8267700" y="1847850"/>
            <a:ext cx="329565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67700" y="1847850"/>
            <a:ext cx="66675" cy="16192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39150" y="2000250"/>
            <a:ext cx="30289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39150" y="2324100"/>
            <a:ext cx="29908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Stay inside the paper: run parameter validation for scan lines, thresholds, IEPS iterations, SCF stopping, scoring, and noise.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4095750"/>
            <a:ext cx="2857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400" b="1" dirty="0">
                <a:solidFill>
                  <a:srgbClr val="111827"/>
                </a:solidFill>
                <a:latin typeface="Aptos"/>
                <a:cs typeface="Aptos"/>
              </a:rPr>
              <a:t>Presentation stance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4495800"/>
            <a:ext cx="106680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After discussion with the professor, I focused on the authors' original direction: reimplementing and validating IEPS + SCF. Instead of adding unrelated preprocessing or large external methods, I investigated the parameters and implementation choices necessary to reproduce the paper's contour extraction behavior.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MODEL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Hsu et al. propose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couples automatic initialization with local contour following to avoid manual Snake initialization.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7630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Input image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7630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circle, U-shape, noisy versions, and vase</a:t>
            </a:r>
          </a:p>
        </p:txBody>
      </p:sp>
      <p:sp>
        <p:nvSpPr>
          <p:cNvPr id="10" name="arrow"/>
          <p:cNvSpPr/>
          <p:nvPr/>
        </p:nvSpPr>
        <p:spPr>
          <a:xfrm>
            <a:off x="278511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91846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5181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5181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edge strength for IEPS and SCF</a:t>
            </a:r>
          </a:p>
        </p:txBody>
      </p:sp>
      <p:sp>
        <p:nvSpPr>
          <p:cNvPr id="14" name="arrow"/>
          <p:cNvSpPr/>
          <p:nvPr/>
        </p:nvSpPr>
        <p:spPr>
          <a:xfrm>
            <a:off x="496062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9397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2732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2732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CoG, scan lines, 3 refinements, T=64</a:t>
            </a:r>
          </a:p>
        </p:txBody>
      </p:sp>
      <p:sp>
        <p:nvSpPr>
          <p:cNvPr id="18" name="arrow"/>
          <p:cNvSpPr/>
          <p:nvPr/>
        </p:nvSpPr>
        <p:spPr>
          <a:xfrm>
            <a:off x="713613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6948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0283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0283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between neighboring IEPS points</a:t>
            </a:r>
          </a:p>
        </p:txBody>
      </p:sp>
      <p:sp>
        <p:nvSpPr>
          <p:cNvPr id="22" name="arrow"/>
          <p:cNvSpPr/>
          <p:nvPr/>
        </p:nvSpPr>
        <p:spPr>
          <a:xfrm>
            <a:off x="9311640" y="2743200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44990" y="2038350"/>
            <a:ext cx="20040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578340" y="2209800"/>
            <a:ext cx="17373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Closed contour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578340" y="259080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combine segmental contours</a:t>
            </a:r>
          </a:p>
        </p:txBody>
      </p:sp>
      <p:sp>
        <p:nvSpPr>
          <p:cNvPr id="26" name="rect"/>
          <p:cNvSpPr/>
          <p:nvPr/>
        </p:nvSpPr>
        <p:spPr>
          <a:xfrm>
            <a:off x="895350" y="4133850"/>
            <a:ext cx="29123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971550" y="4200525"/>
            <a:ext cx="27599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Paper component</a:t>
            </a:r>
          </a:p>
        </p:txBody>
      </p:sp>
      <p:sp>
        <p:nvSpPr>
          <p:cNvPr id="28" name="rect"/>
          <p:cNvSpPr/>
          <p:nvPr/>
        </p:nvSpPr>
        <p:spPr>
          <a:xfrm>
            <a:off x="3807714" y="4133850"/>
            <a:ext cx="7488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883914" y="4200525"/>
            <a:ext cx="7336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ptos"/>
                <a:cs typeface="Aptos"/>
              </a:rPr>
              <a:t>Implemented interpretation</a:t>
            </a:r>
          </a:p>
        </p:txBody>
      </p:sp>
      <p:sp>
        <p:nvSpPr>
          <p:cNvPr id="30" name="rect"/>
          <p:cNvSpPr/>
          <p:nvPr/>
        </p:nvSpPr>
        <p:spPr>
          <a:xfrm>
            <a:off x="895350" y="44767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1550" y="45339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32" name="rect"/>
          <p:cNvSpPr/>
          <p:nvPr/>
        </p:nvSpPr>
        <p:spPr>
          <a:xfrm>
            <a:off x="3807714" y="44767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3883914" y="45339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4 initial scan lines, 3 iterations, threshold 64, about 32 final edge points.</a:t>
            </a:r>
          </a:p>
        </p:txBody>
      </p:sp>
      <p:sp>
        <p:nvSpPr>
          <p:cNvPr id="34" name="rect"/>
          <p:cNvSpPr/>
          <p:nvPr/>
        </p:nvSpPr>
        <p:spPr>
          <a:xfrm>
            <a:off x="895350" y="47815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971550" y="48387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Related direction</a:t>
            </a:r>
          </a:p>
        </p:txBody>
      </p:sp>
      <p:sp>
        <p:nvSpPr>
          <p:cNvPr id="36" name="rect"/>
          <p:cNvSpPr/>
          <p:nvPr/>
        </p:nvSpPr>
        <p:spPr>
          <a:xfrm>
            <a:off x="3807714" y="47815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883914" y="48387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Dx and Dy signs classify the target direction between neighboring IEPS points.</a:t>
            </a:r>
          </a:p>
        </p:txBody>
      </p:sp>
      <p:sp>
        <p:nvSpPr>
          <p:cNvPr id="38" name="rect"/>
          <p:cNvSpPr/>
          <p:nvPr/>
        </p:nvSpPr>
        <p:spPr>
          <a:xfrm>
            <a:off x="895350" y="5086350"/>
            <a:ext cx="2912364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971550" y="51435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Gravity-style SCF</a:t>
            </a:r>
          </a:p>
        </p:txBody>
      </p:sp>
      <p:sp>
        <p:nvSpPr>
          <p:cNvPr id="40" name="rect"/>
          <p:cNvSpPr/>
          <p:nvPr/>
        </p:nvSpPr>
        <p:spPr>
          <a:xfrm>
            <a:off x="3807714" y="5086350"/>
            <a:ext cx="748893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3883914" y="51435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Candidate score combines Sobel gradient strength with distance-to-target information.</a:t>
            </a:r>
          </a:p>
        </p:txBody>
      </p:sp>
      <p:sp>
        <p:nvSpPr>
          <p:cNvPr id="42" name="rect"/>
          <p:cNvSpPr/>
          <p:nvPr/>
        </p:nvSpPr>
        <p:spPr>
          <a:xfrm>
            <a:off x="895350" y="5391150"/>
            <a:ext cx="2912364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971550" y="5448300"/>
            <a:ext cx="2759964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44" name="rect"/>
          <p:cNvSpPr/>
          <p:nvPr/>
        </p:nvSpPr>
        <p:spPr>
          <a:xfrm>
            <a:off x="3807714" y="5391150"/>
            <a:ext cx="748893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3883914" y="5448300"/>
            <a:ext cx="733653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Selected points and final contour are compared against known synthetic ground truth.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03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READ-THROUGH RESULT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Implementation map from source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codebase separates image synthesis, IEPS, SCF, evaluation, baselines, and reporting into testable modules.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94310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image_generation.py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circle, U-shape, noise, vase path</a:t>
            </a:r>
          </a:p>
        </p:txBody>
      </p:sp>
      <p:sp>
        <p:nvSpPr>
          <p:cNvPr id="11" name="rect"/>
          <p:cNvSpPr/>
          <p:nvPr/>
        </p:nvSpPr>
        <p:spPr>
          <a:xfrm>
            <a:off x="33528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3352800" y="194310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5242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gradients.py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5242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Sobel magnitude normalized to 0..255</a:t>
            </a:r>
          </a:p>
        </p:txBody>
      </p:sp>
      <p:sp>
        <p:nvSpPr>
          <p:cNvPr id="15" name="rect"/>
          <p:cNvSpPr/>
          <p:nvPr/>
        </p:nvSpPr>
        <p:spPr>
          <a:xfrm>
            <a:off x="60960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0" y="194310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2674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geometry.py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2674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CoG, ray sampling, line sampling, ordering</a:t>
            </a:r>
          </a:p>
        </p:txBody>
      </p:sp>
      <p:sp>
        <p:nvSpPr>
          <p:cNvPr id="19" name="rect"/>
          <p:cNvSpPr/>
          <p:nvPr/>
        </p:nvSpPr>
        <p:spPr>
          <a:xfrm>
            <a:off x="8839200" y="194310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8839200" y="194310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9010650" y="20955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ieps.py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9010650" y="241935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paper-faithful initial edge selection</a:t>
            </a:r>
          </a:p>
        </p:txBody>
      </p:sp>
      <p:sp>
        <p:nvSpPr>
          <p:cNvPr id="23" name="rect"/>
          <p:cNvSpPr/>
          <p:nvPr/>
        </p:nvSpPr>
        <p:spPr>
          <a:xfrm>
            <a:off x="6096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rect"/>
          <p:cNvSpPr/>
          <p:nvPr/>
        </p:nvSpPr>
        <p:spPr>
          <a:xfrm>
            <a:off x="609600" y="3371850"/>
            <a:ext cx="66675" cy="1047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7810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scf.py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7810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greedy, graph, band-graph contour following</a:t>
            </a:r>
          </a:p>
        </p:txBody>
      </p:sp>
      <p:sp>
        <p:nvSpPr>
          <p:cNvPr id="27" name="rect"/>
          <p:cNvSpPr/>
          <p:nvPr/>
        </p:nvSpPr>
        <p:spPr>
          <a:xfrm>
            <a:off x="33528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3352800" y="3371850"/>
            <a:ext cx="66675" cy="1047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35242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evaluation.py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35242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point accuracy, contour metrics, runtime</a:t>
            </a:r>
          </a:p>
        </p:txBody>
      </p:sp>
      <p:sp>
        <p:nvSpPr>
          <p:cNvPr id="31" name="rect"/>
          <p:cNvSpPr/>
          <p:nvPr/>
        </p:nvSpPr>
        <p:spPr>
          <a:xfrm>
            <a:off x="60960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rect"/>
          <p:cNvSpPr/>
          <p:nvPr/>
        </p:nvSpPr>
        <p:spPr>
          <a:xfrm>
            <a:off x="6096000" y="3371850"/>
            <a:ext cx="66675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62674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paper_baselines.py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2674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Yuen/Snake/Chen-style approximations</a:t>
            </a:r>
          </a:p>
        </p:txBody>
      </p:sp>
      <p:sp>
        <p:nvSpPr>
          <p:cNvPr id="35" name="rect"/>
          <p:cNvSpPr/>
          <p:nvPr/>
        </p:nvSpPr>
        <p:spPr>
          <a:xfrm>
            <a:off x="8839200" y="3371850"/>
            <a:ext cx="24003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rect"/>
          <p:cNvSpPr/>
          <p:nvPr/>
        </p:nvSpPr>
        <p:spPr>
          <a:xfrm>
            <a:off x="8839200" y="3371850"/>
            <a:ext cx="66675" cy="104775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9010650" y="352425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main.py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9010650" y="3848100"/>
            <a:ext cx="209550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CLI run modes and table generation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42950" y="5086350"/>
            <a:ext cx="30289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Aptos"/>
                <a:cs typeface="Aptos"/>
              </a:rPr>
              <a:t>Important design decision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42950" y="5448300"/>
            <a:ext cx="1019175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dirty="0">
                <a:solidFill>
                  <a:srgbClr val="111827"/>
                </a:solidFill>
                <a:latin typeface="Aptos"/>
                <a:cs typeface="Aptos"/>
              </a:rPr>
              <a:t>The unavailable Yuen, Kass/Snake, and Chen methods are implemented only as clearly labeled approximations. The core claim rests on the IEPS + SCF implementation and its own validation artifacts.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04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INITIAL EDGE POINT SELECTION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IEPS: executable interpretation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paper's geometric description is made concrete through scan-line sampling and candidate selection rules.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ieps_point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81050" y="2000250"/>
            <a:ext cx="2381250" cy="2381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78105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noisy: IEPS points</a:t>
            </a:r>
          </a:p>
        </p:txBody>
      </p:sp>
      <p:pic>
        <p:nvPicPr>
          <p:cNvPr id="9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581400" y="2000250"/>
            <a:ext cx="2381250" cy="2381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3581400" y="4457700"/>
            <a:ext cx="23812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noisy: IEPS points</a:t>
            </a:r>
          </a:p>
        </p:txBody>
      </p:sp>
      <p:sp>
        <p:nvSpPr>
          <p:cNvPr id="11" name="rect"/>
          <p:cNvSpPr/>
          <p:nvPr/>
        </p:nvSpPr>
        <p:spPr>
          <a:xfrm>
            <a:off x="6477000" y="1885950"/>
            <a:ext cx="1619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6553200" y="1952625"/>
            <a:ext cx="1466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Step</a:t>
            </a:r>
          </a:p>
        </p:txBody>
      </p:sp>
      <p:sp>
        <p:nvSpPr>
          <p:cNvPr id="13" name="rect"/>
          <p:cNvSpPr/>
          <p:nvPr/>
        </p:nvSpPr>
        <p:spPr>
          <a:xfrm>
            <a:off x="8096250" y="1885950"/>
            <a:ext cx="31432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8172450" y="1952625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Concrete implementation</a:t>
            </a:r>
          </a:p>
        </p:txBody>
      </p:sp>
      <p:sp>
        <p:nvSpPr>
          <p:cNvPr id="15" name="rect"/>
          <p:cNvSpPr/>
          <p:nvPr/>
        </p:nvSpPr>
        <p:spPr>
          <a:xfrm>
            <a:off x="6477000" y="2228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553200" y="2286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</a:t>
            </a:r>
          </a:p>
        </p:txBody>
      </p:sp>
      <p:sp>
        <p:nvSpPr>
          <p:cNvPr id="17" name="rect"/>
          <p:cNvSpPr/>
          <p:nvPr/>
        </p:nvSpPr>
        <p:spPr>
          <a:xfrm>
            <a:off x="8096250" y="2228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172450" y="2286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center of gravity</a:t>
            </a:r>
          </a:p>
        </p:txBody>
      </p:sp>
      <p:sp>
        <p:nvSpPr>
          <p:cNvPr id="19" name="rect"/>
          <p:cNvSpPr/>
          <p:nvPr/>
        </p:nvSpPr>
        <p:spPr>
          <a:xfrm>
            <a:off x="6477000" y="2609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553200" y="2667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First rays</a:t>
            </a:r>
          </a:p>
        </p:txBody>
      </p:sp>
      <p:sp>
        <p:nvSpPr>
          <p:cNvPr id="21" name="rect"/>
          <p:cNvSpPr/>
          <p:nvPr/>
        </p:nvSpPr>
        <p:spPr>
          <a:xfrm>
            <a:off x="8096250" y="2609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172450" y="2667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4 fixed scan lines through center</a:t>
            </a:r>
          </a:p>
        </p:txBody>
      </p:sp>
      <p:sp>
        <p:nvSpPr>
          <p:cNvPr id="23" name="rect"/>
          <p:cNvSpPr/>
          <p:nvPr/>
        </p:nvSpPr>
        <p:spPr>
          <a:xfrm>
            <a:off x="6477000" y="2990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6553200" y="3048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</a:t>
            </a:r>
          </a:p>
        </p:txBody>
      </p:sp>
      <p:sp>
        <p:nvSpPr>
          <p:cNvPr id="25" name="rect"/>
          <p:cNvSpPr/>
          <p:nvPr/>
        </p:nvSpPr>
        <p:spPr>
          <a:xfrm>
            <a:off x="8096250" y="2990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8172450" y="3048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midpoints + normal scan lines</a:t>
            </a:r>
          </a:p>
        </p:txBody>
      </p:sp>
      <p:sp>
        <p:nvSpPr>
          <p:cNvPr id="27" name="rect"/>
          <p:cNvSpPr/>
          <p:nvPr/>
        </p:nvSpPr>
        <p:spPr>
          <a:xfrm>
            <a:off x="6477000" y="3371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6553200" y="3429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Iterations</a:t>
            </a:r>
          </a:p>
        </p:txBody>
      </p:sp>
      <p:sp>
        <p:nvSpPr>
          <p:cNvPr id="29" name="rect"/>
          <p:cNvSpPr/>
          <p:nvPr/>
        </p:nvSpPr>
        <p:spPr>
          <a:xfrm>
            <a:off x="8096250" y="3371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172450" y="3429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 refinement passes</a:t>
            </a:r>
          </a:p>
        </p:txBody>
      </p:sp>
      <p:sp>
        <p:nvSpPr>
          <p:cNvPr id="31" name="rect"/>
          <p:cNvSpPr/>
          <p:nvPr/>
        </p:nvSpPr>
        <p:spPr>
          <a:xfrm>
            <a:off x="6477000" y="3752850"/>
            <a:ext cx="1619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553200" y="3810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Threshold</a:t>
            </a:r>
          </a:p>
        </p:txBody>
      </p:sp>
      <p:sp>
        <p:nvSpPr>
          <p:cNvPr id="33" name="rect"/>
          <p:cNvSpPr/>
          <p:nvPr/>
        </p:nvSpPr>
        <p:spPr>
          <a:xfrm>
            <a:off x="8096250" y="3752850"/>
            <a:ext cx="3143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8172450" y="3810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Sobel magnitude &gt;= 64</a:t>
            </a:r>
          </a:p>
        </p:txBody>
      </p:sp>
      <p:sp>
        <p:nvSpPr>
          <p:cNvPr id="35" name="rect"/>
          <p:cNvSpPr/>
          <p:nvPr/>
        </p:nvSpPr>
        <p:spPr>
          <a:xfrm>
            <a:off x="6477000" y="4133850"/>
            <a:ext cx="1619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553200" y="4191000"/>
            <a:ext cx="1466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Fallback</a:t>
            </a:r>
          </a:p>
        </p:txBody>
      </p:sp>
      <p:sp>
        <p:nvSpPr>
          <p:cNvPr id="37" name="rect"/>
          <p:cNvSpPr/>
          <p:nvPr/>
        </p:nvSpPr>
        <p:spPr>
          <a:xfrm>
            <a:off x="8096250" y="4133850"/>
            <a:ext cx="3143250" cy="3810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8172450" y="4191000"/>
            <a:ext cx="29908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candidate if threshold misses</a:t>
            </a:r>
          </a:p>
        </p:txBody>
      </p:sp>
      <p:sp>
        <p:nvSpPr>
          <p:cNvPr id="39" name="rect"/>
          <p:cNvSpPr/>
          <p:nvPr/>
        </p:nvSpPr>
        <p:spPr>
          <a:xfrm>
            <a:off x="781050" y="4895850"/>
            <a:ext cx="104584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rect"/>
          <p:cNvSpPr/>
          <p:nvPr/>
        </p:nvSpPr>
        <p:spPr>
          <a:xfrm>
            <a:off x="781050" y="4895850"/>
            <a:ext cx="66675" cy="742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952500" y="5048250"/>
            <a:ext cx="101917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952500" y="5372100"/>
            <a:ext cx="10153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works cleanly for the circle because the center of gravity sits inside a star-convex object. The U-shape is harder because the center can lie in or near the concavity, changing ray intersections and point order.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05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SEGMENTAL CONTOUR FOLLOWING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SCF: from flow chart to code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Each neighboring IEPS pair defines one segment; the implementation turns the paper's direction mask into deterministic pixel tracing.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04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38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Si -&gt; Si+1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38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neighboring IEPS points define target direction</a:t>
            </a:r>
          </a:p>
        </p:txBody>
      </p:sp>
      <p:sp>
        <p:nvSpPr>
          <p:cNvPr id="10" name="arrow"/>
          <p:cNvSpPr/>
          <p:nvPr/>
        </p:nvSpPr>
        <p:spPr>
          <a:xfrm>
            <a:off x="27622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956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0289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Direction state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30289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sign(Dx), sign(Dy) maps to N, NE, E, ...</a:t>
            </a:r>
          </a:p>
        </p:txBody>
      </p:sp>
      <p:sp>
        <p:nvSpPr>
          <p:cNvPr id="14" name="arrow"/>
          <p:cNvSpPr/>
          <p:nvPr/>
        </p:nvSpPr>
        <p:spPr>
          <a:xfrm>
            <a:off x="49530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863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2197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Candidate mask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2197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local candidates consistent with direction</a:t>
            </a:r>
          </a:p>
        </p:txBody>
      </p:sp>
      <p:sp>
        <p:nvSpPr>
          <p:cNvPr id="18" name="arrow"/>
          <p:cNvSpPr/>
          <p:nvPr/>
        </p:nvSpPr>
        <p:spPr>
          <a:xfrm>
            <a:off x="714375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7710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41045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Score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1045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/ (distance^2 + 1) by default</a:t>
            </a:r>
          </a:p>
        </p:txBody>
      </p:sp>
      <p:sp>
        <p:nvSpPr>
          <p:cNvPr id="22" name="arrow"/>
          <p:cNvSpPr/>
          <p:nvPr/>
        </p:nvSpPr>
        <p:spPr>
          <a:xfrm>
            <a:off x="9334500" y="2581275"/>
            <a:ext cx="95250" cy="19050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467850" y="1962150"/>
            <a:ext cx="20193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1200" y="2133600"/>
            <a:ext cx="1752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600" b="1" dirty="0">
                <a:solidFill>
                  <a:srgbClr val="111827"/>
                </a:solidFill>
                <a:latin typeface="Aptos"/>
                <a:cs typeface="Aptos"/>
              </a:rPr>
              <a:t>Stop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1200" y="2514600"/>
            <a:ext cx="17526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target reached within tolerance or guard rule fires</a:t>
            </a:r>
          </a:p>
        </p:txBody>
      </p:sp>
      <p:sp>
        <p:nvSpPr>
          <p:cNvPr id="26" name="rect"/>
          <p:cNvSpPr/>
          <p:nvPr/>
        </p:nvSpPr>
        <p:spPr>
          <a:xfrm>
            <a:off x="742950" y="4000500"/>
            <a:ext cx="198348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819150" y="4067175"/>
            <a:ext cx="183108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phrase</a:t>
            </a:r>
          </a:p>
        </p:txBody>
      </p:sp>
      <p:sp>
        <p:nvSpPr>
          <p:cNvPr id="28" name="rect"/>
          <p:cNvSpPr/>
          <p:nvPr/>
        </p:nvSpPr>
        <p:spPr>
          <a:xfrm>
            <a:off x="2726436" y="4000500"/>
            <a:ext cx="323621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802636" y="4067175"/>
            <a:ext cx="308381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Implemented assumption</a:t>
            </a:r>
          </a:p>
        </p:txBody>
      </p:sp>
      <p:sp>
        <p:nvSpPr>
          <p:cNvPr id="30" name="rect"/>
          <p:cNvSpPr/>
          <p:nvPr/>
        </p:nvSpPr>
        <p:spPr>
          <a:xfrm>
            <a:off x="742950" y="434340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19150" y="440055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closed contour?</a:t>
            </a:r>
          </a:p>
        </p:txBody>
      </p:sp>
      <p:sp>
        <p:nvSpPr>
          <p:cNvPr id="32" name="rect"/>
          <p:cNvSpPr/>
          <p:nvPr/>
        </p:nvSpPr>
        <p:spPr>
          <a:xfrm>
            <a:off x="2726436" y="434340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802636" y="440055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all segments finish and concatenate</a:t>
            </a:r>
          </a:p>
        </p:txBody>
      </p:sp>
      <p:sp>
        <p:nvSpPr>
          <p:cNvPr id="34" name="rect"/>
          <p:cNvSpPr/>
          <p:nvPr/>
        </p:nvSpPr>
        <p:spPr>
          <a:xfrm>
            <a:off x="742950" y="463867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819150" y="469582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force of gravity</a:t>
            </a:r>
          </a:p>
        </p:txBody>
      </p:sp>
      <p:sp>
        <p:nvSpPr>
          <p:cNvPr id="36" name="rect"/>
          <p:cNvSpPr/>
          <p:nvPr/>
        </p:nvSpPr>
        <p:spPr>
          <a:xfrm>
            <a:off x="2726436" y="463867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802636" y="469582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 plus inverse squared target distance</a:t>
            </a:r>
          </a:p>
        </p:txBody>
      </p:sp>
      <p:sp>
        <p:nvSpPr>
          <p:cNvPr id="38" name="rect"/>
          <p:cNvSpPr/>
          <p:nvPr/>
        </p:nvSpPr>
        <p:spPr>
          <a:xfrm>
            <a:off x="742950" y="4933950"/>
            <a:ext cx="1983486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819150" y="4991100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mask direction</a:t>
            </a:r>
          </a:p>
        </p:txBody>
      </p:sp>
      <p:sp>
        <p:nvSpPr>
          <p:cNvPr id="40" name="rect"/>
          <p:cNvSpPr/>
          <p:nvPr/>
        </p:nvSpPr>
        <p:spPr>
          <a:xfrm>
            <a:off x="2726436" y="4933950"/>
            <a:ext cx="3236214" cy="2952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802636" y="4991100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three candidate moves by related direction</a:t>
            </a:r>
          </a:p>
        </p:txBody>
      </p:sp>
      <p:sp>
        <p:nvSpPr>
          <p:cNvPr id="42" name="rect"/>
          <p:cNvSpPr/>
          <p:nvPr/>
        </p:nvSpPr>
        <p:spPr>
          <a:xfrm>
            <a:off x="742950" y="5229225"/>
            <a:ext cx="1983486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819150" y="5286375"/>
            <a:ext cx="1831086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avoid loops</a:t>
            </a:r>
          </a:p>
        </p:txBody>
      </p:sp>
      <p:sp>
        <p:nvSpPr>
          <p:cNvPr id="44" name="rect"/>
          <p:cNvSpPr/>
          <p:nvPr/>
        </p:nvSpPr>
        <p:spPr>
          <a:xfrm>
            <a:off x="2726436" y="5229225"/>
            <a:ext cx="3236214" cy="295275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802636" y="5286375"/>
            <a:ext cx="3083814" cy="2000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visited-pixel and max-step guards</a:t>
            </a:r>
          </a:p>
        </p:txBody>
      </p:sp>
      <p:pic>
        <p:nvPicPr>
          <p:cNvPr id="46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858000" y="3924300"/>
            <a:ext cx="1714500" cy="1714500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66675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 SCF</a:t>
            </a:r>
          </a:p>
        </p:txBody>
      </p:sp>
      <p:pic>
        <p:nvPicPr>
          <p:cNvPr id="48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296400" y="3924300"/>
            <a:ext cx="1714500" cy="1714500"/>
          </a:xfrm>
          <a:prstGeom prst="rect">
            <a:avLst/>
          </a:prstGeom>
        </p:spPr>
      </p:pic>
      <p:sp>
        <p:nvSpPr>
          <p:cNvPr id="49" name="text"/>
          <p:cNvSpPr txBox="1"/>
          <p:nvPr/>
        </p:nvSpPr>
        <p:spPr>
          <a:xfrm>
            <a:off x="9105900" y="5715000"/>
            <a:ext cx="209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U-shape SCF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06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EXPERIMENTS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validation is intentionally close to the paper: author-style synthetic shapes, Gaussian noise, IEPS point accuracy, final contour metrics, and runtime.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2638425"/>
            <a:ext cx="5143500" cy="85725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circle_noisy panel</a:t>
            </a:r>
          </a:p>
        </p:txBody>
      </p:sp>
      <p:pic>
        <p:nvPicPr>
          <p:cNvPr id="9" name="image" descr="panel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38900" y="2638425"/>
            <a:ext cx="5143500" cy="8572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438900" y="42672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u_shape_noisy panel</a:t>
            </a:r>
          </a:p>
        </p:txBody>
      </p:sp>
      <p:sp>
        <p:nvSpPr>
          <p:cNvPr id="11" name="rect"/>
          <p:cNvSpPr/>
          <p:nvPr/>
        </p:nvSpPr>
        <p:spPr>
          <a:xfrm>
            <a:off x="819150" y="4800600"/>
            <a:ext cx="186537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95350" y="4867275"/>
            <a:ext cx="171297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Metric</a:t>
            </a:r>
          </a:p>
        </p:txBody>
      </p:sp>
      <p:sp>
        <p:nvSpPr>
          <p:cNvPr id="13" name="rect"/>
          <p:cNvSpPr/>
          <p:nvPr/>
        </p:nvSpPr>
        <p:spPr>
          <a:xfrm>
            <a:off x="2684526" y="4800600"/>
            <a:ext cx="279806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2760726" y="4867275"/>
            <a:ext cx="26456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Purpose</a:t>
            </a:r>
          </a:p>
        </p:txBody>
      </p:sp>
      <p:sp>
        <p:nvSpPr>
          <p:cNvPr id="15" name="rect"/>
          <p:cNvSpPr/>
          <p:nvPr/>
        </p:nvSpPr>
        <p:spPr>
          <a:xfrm>
            <a:off x="5482590" y="4800600"/>
            <a:ext cx="569976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558790" y="4867275"/>
            <a:ext cx="55473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Current operational definition</a:t>
            </a:r>
          </a:p>
        </p:txBody>
      </p:sp>
      <p:sp>
        <p:nvSpPr>
          <p:cNvPr id="17" name="rect"/>
          <p:cNvSpPr/>
          <p:nvPr/>
        </p:nvSpPr>
        <p:spPr>
          <a:xfrm>
            <a:off x="819150" y="51435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95350" y="52006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IEPS accuracy</a:t>
            </a:r>
          </a:p>
        </p:txBody>
      </p:sp>
      <p:sp>
        <p:nvSpPr>
          <p:cNvPr id="19" name="rect"/>
          <p:cNvSpPr/>
          <p:nvPr/>
        </p:nvSpPr>
        <p:spPr>
          <a:xfrm>
            <a:off x="2684526" y="51435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2760726" y="52006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initial edge points</a:t>
            </a:r>
          </a:p>
        </p:txBody>
      </p:sp>
      <p:sp>
        <p:nvSpPr>
          <p:cNvPr id="21" name="rect"/>
          <p:cNvSpPr/>
          <p:nvPr/>
        </p:nvSpPr>
        <p:spPr>
          <a:xfrm>
            <a:off x="5482590" y="51435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5558790" y="52006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point is correct if within 2 px of ground-truth contour</a:t>
            </a:r>
          </a:p>
        </p:txBody>
      </p:sp>
      <p:sp>
        <p:nvSpPr>
          <p:cNvPr id="23" name="rect"/>
          <p:cNvSpPr/>
          <p:nvPr/>
        </p:nvSpPr>
        <p:spPr>
          <a:xfrm>
            <a:off x="819150" y="5346700"/>
            <a:ext cx="1865376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95350" y="54038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Precision / recall / F1</a:t>
            </a:r>
          </a:p>
        </p:txBody>
      </p:sp>
      <p:sp>
        <p:nvSpPr>
          <p:cNvPr id="25" name="rect"/>
          <p:cNvSpPr/>
          <p:nvPr/>
        </p:nvSpPr>
        <p:spPr>
          <a:xfrm>
            <a:off x="2684526" y="5346700"/>
            <a:ext cx="2798064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760726" y="54038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validate final contour</a:t>
            </a:r>
          </a:p>
        </p:txBody>
      </p:sp>
      <p:sp>
        <p:nvSpPr>
          <p:cNvPr id="27" name="rect"/>
          <p:cNvSpPr/>
          <p:nvPr/>
        </p:nvSpPr>
        <p:spPr>
          <a:xfrm>
            <a:off x="5482590" y="5346700"/>
            <a:ext cx="5699760" cy="203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558790" y="54038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predicted contour mask compared to ground truth with tolerance</a:t>
            </a:r>
          </a:p>
        </p:txBody>
      </p:sp>
      <p:sp>
        <p:nvSpPr>
          <p:cNvPr id="29" name="rect"/>
          <p:cNvSpPr/>
          <p:nvPr/>
        </p:nvSpPr>
        <p:spPr>
          <a:xfrm>
            <a:off x="819150" y="5549900"/>
            <a:ext cx="1865376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95350" y="5607050"/>
            <a:ext cx="1712976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31" name="rect"/>
          <p:cNvSpPr/>
          <p:nvPr/>
        </p:nvSpPr>
        <p:spPr>
          <a:xfrm>
            <a:off x="2684526" y="5549900"/>
            <a:ext cx="2798064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2760726" y="5607050"/>
            <a:ext cx="2645664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efficiency</a:t>
            </a:r>
          </a:p>
        </p:txBody>
      </p:sp>
      <p:sp>
        <p:nvSpPr>
          <p:cNvPr id="33" name="rect"/>
          <p:cNvSpPr/>
          <p:nvPr/>
        </p:nvSpPr>
        <p:spPr>
          <a:xfrm>
            <a:off x="5482590" y="5549900"/>
            <a:ext cx="5699760" cy="20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5558790" y="5607050"/>
            <a:ext cx="5547360" cy="1079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time + SCF time in milliseconds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07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QUANTITATIVE FINDING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Main result: circles reproduce cleanly, U-shapes expose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default paper-mode IEPS + greedy SCF is excellent on circles and weaker on concave U-shapes.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62000" y="17716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Final contour F1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7620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9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" name="rect"/>
          <p:cNvSpPr/>
          <p:nvPr/>
        </p:nvSpPr>
        <p:spPr>
          <a:xfrm>
            <a:off x="2190750" y="214312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51054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7620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13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4" name="rect"/>
          <p:cNvSpPr/>
          <p:nvPr/>
        </p:nvSpPr>
        <p:spPr>
          <a:xfrm>
            <a:off x="2190750" y="2771775"/>
            <a:ext cx="2857500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1054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7620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17" name="rect"/>
          <p:cNvSpPr/>
          <p:nvPr/>
        </p:nvSpPr>
        <p:spPr>
          <a:xfrm>
            <a:off x="2190750" y="340042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8" name="rect"/>
          <p:cNvSpPr/>
          <p:nvPr/>
        </p:nvSpPr>
        <p:spPr>
          <a:xfrm>
            <a:off x="2190750" y="3400425"/>
            <a:ext cx="1753076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51054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61.4%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620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21" name="rect"/>
          <p:cNvSpPr/>
          <p:nvPr/>
        </p:nvSpPr>
        <p:spPr>
          <a:xfrm>
            <a:off x="2190750" y="4029075"/>
            <a:ext cx="28575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2" name="rect"/>
          <p:cNvSpPr/>
          <p:nvPr/>
        </p:nvSpPr>
        <p:spPr>
          <a:xfrm>
            <a:off x="2190750" y="4029075"/>
            <a:ext cx="1688211" cy="4000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51054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515100" y="1771650"/>
            <a:ext cx="47625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IEPS point accuracy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515100" y="21145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clean</a:t>
            </a:r>
          </a:p>
        </p:txBody>
      </p:sp>
      <p:sp>
        <p:nvSpPr>
          <p:cNvPr id="26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27" name="rect"/>
          <p:cNvSpPr/>
          <p:nvPr/>
        </p:nvSpPr>
        <p:spPr>
          <a:xfrm>
            <a:off x="7943850" y="214312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10668000" y="21240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515100" y="27432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circle noisy</a:t>
            </a:r>
          </a:p>
        </p:txBody>
      </p:sp>
      <p:sp>
        <p:nvSpPr>
          <p:cNvPr id="30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1" name="rect"/>
          <p:cNvSpPr/>
          <p:nvPr/>
        </p:nvSpPr>
        <p:spPr>
          <a:xfrm>
            <a:off x="7943850" y="2771775"/>
            <a:ext cx="266700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10668000" y="27527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515100" y="337185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clean</a:t>
            </a:r>
          </a:p>
        </p:txBody>
      </p:sp>
      <p:sp>
        <p:nvSpPr>
          <p:cNvPr id="34" name="rect"/>
          <p:cNvSpPr/>
          <p:nvPr/>
        </p:nvSpPr>
        <p:spPr>
          <a:xfrm>
            <a:off x="7943850" y="340042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5" name="rect"/>
          <p:cNvSpPr/>
          <p:nvPr/>
        </p:nvSpPr>
        <p:spPr>
          <a:xfrm>
            <a:off x="7943850" y="3400425"/>
            <a:ext cx="208346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10668000" y="338137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6515100" y="4000500"/>
            <a:ext cx="131445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U noisy</a:t>
            </a:r>
          </a:p>
        </p:txBody>
      </p:sp>
      <p:sp>
        <p:nvSpPr>
          <p:cNvPr id="38" name="rect"/>
          <p:cNvSpPr/>
          <p:nvPr/>
        </p:nvSpPr>
        <p:spPr>
          <a:xfrm>
            <a:off x="7943850" y="4029075"/>
            <a:ext cx="2667000" cy="4000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39" name="rect"/>
          <p:cNvSpPr/>
          <p:nvPr/>
        </p:nvSpPr>
        <p:spPr>
          <a:xfrm>
            <a:off x="7943850" y="4029075"/>
            <a:ext cx="2083460" cy="4000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10668000" y="4010025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41" name="rect"/>
          <p:cNvSpPr/>
          <p:nvPr/>
        </p:nvSpPr>
        <p:spPr>
          <a:xfrm>
            <a:off x="971550" y="5048250"/>
            <a:ext cx="27470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1047750" y="5114925"/>
            <a:ext cx="25946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43" name="rect"/>
          <p:cNvSpPr/>
          <p:nvPr/>
        </p:nvSpPr>
        <p:spPr>
          <a:xfrm>
            <a:off x="371856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379476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</a:t>
            </a:r>
          </a:p>
        </p:txBody>
      </p:sp>
      <p:sp>
        <p:nvSpPr>
          <p:cNvPr id="45" name="rect"/>
          <p:cNvSpPr/>
          <p:nvPr/>
        </p:nvSpPr>
        <p:spPr>
          <a:xfrm>
            <a:off x="5288280" y="5048250"/>
            <a:ext cx="1569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5364480" y="5114925"/>
            <a:ext cx="1417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47" name="rect"/>
          <p:cNvSpPr/>
          <p:nvPr/>
        </p:nvSpPr>
        <p:spPr>
          <a:xfrm>
            <a:off x="6858000" y="5048250"/>
            <a:ext cx="215836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6934200" y="5114925"/>
            <a:ext cx="200596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Segments reached</a:t>
            </a:r>
          </a:p>
        </p:txBody>
      </p:sp>
      <p:sp>
        <p:nvSpPr>
          <p:cNvPr id="49" name="rect"/>
          <p:cNvSpPr/>
          <p:nvPr/>
        </p:nvSpPr>
        <p:spPr>
          <a:xfrm>
            <a:off x="9016365" y="5048250"/>
            <a:ext cx="1765935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9092565" y="5114925"/>
            <a:ext cx="1613535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51" name="rect"/>
          <p:cNvSpPr/>
          <p:nvPr/>
        </p:nvSpPr>
        <p:spPr>
          <a:xfrm>
            <a:off x="971550" y="5391150"/>
            <a:ext cx="274701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1047750" y="54483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53" name="rect"/>
          <p:cNvSpPr/>
          <p:nvPr/>
        </p:nvSpPr>
        <p:spPr>
          <a:xfrm>
            <a:off x="371856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79476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288280" y="5391150"/>
            <a:ext cx="1569720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364480" y="54483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7" name="rect"/>
          <p:cNvSpPr/>
          <p:nvPr/>
        </p:nvSpPr>
        <p:spPr>
          <a:xfrm>
            <a:off x="6858000" y="5391150"/>
            <a:ext cx="215836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34200" y="54483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9" name="rect"/>
          <p:cNvSpPr/>
          <p:nvPr/>
        </p:nvSpPr>
        <p:spPr>
          <a:xfrm>
            <a:off x="9016365" y="5391150"/>
            <a:ext cx="1765935" cy="2667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9092565" y="54483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8.1 ms</a:t>
            </a:r>
          </a:p>
        </p:txBody>
      </p:sp>
      <p:sp>
        <p:nvSpPr>
          <p:cNvPr id="61" name="rect"/>
          <p:cNvSpPr/>
          <p:nvPr/>
        </p:nvSpPr>
        <p:spPr>
          <a:xfrm>
            <a:off x="971550" y="5657850"/>
            <a:ext cx="274701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1047750" y="5715000"/>
            <a:ext cx="259461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3" name="rect"/>
          <p:cNvSpPr/>
          <p:nvPr/>
        </p:nvSpPr>
        <p:spPr>
          <a:xfrm>
            <a:off x="371856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79476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65" name="rect"/>
          <p:cNvSpPr/>
          <p:nvPr/>
        </p:nvSpPr>
        <p:spPr>
          <a:xfrm>
            <a:off x="5288280" y="5657850"/>
            <a:ext cx="1569720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5364480" y="5715000"/>
            <a:ext cx="1417320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67" name="rect"/>
          <p:cNvSpPr/>
          <p:nvPr/>
        </p:nvSpPr>
        <p:spPr>
          <a:xfrm>
            <a:off x="6858000" y="5657850"/>
            <a:ext cx="215836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6934200" y="5715000"/>
            <a:ext cx="200596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69" name="rect"/>
          <p:cNvSpPr/>
          <p:nvPr/>
        </p:nvSpPr>
        <p:spPr>
          <a:xfrm>
            <a:off x="9016365" y="5657850"/>
            <a:ext cx="1765935" cy="2667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9092565" y="5715000"/>
            <a:ext cx="1613535" cy="1714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9.3 ms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08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REPRODUCIBILITY CONTRIBUTION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What the paper forgot to specify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main reproducibility challenge was SCF: the paper gives the gravity-force and mask idea, but not stopping tolerance, loop prevention, tie-breaking, weak-gradient fallback, or max-step handling. These choices were implemented explicitly and evaluated.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85292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70052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Missing detail</a:t>
            </a:r>
          </a:p>
        </p:txBody>
      </p:sp>
      <p:sp>
        <p:nvSpPr>
          <p:cNvPr id="9" name="rect"/>
          <p:cNvSpPr/>
          <p:nvPr/>
        </p:nvSpPr>
        <p:spPr>
          <a:xfrm>
            <a:off x="3462528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538728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11" name="rect"/>
          <p:cNvSpPr/>
          <p:nvPr/>
        </p:nvSpPr>
        <p:spPr>
          <a:xfrm>
            <a:off x="7522464" y="1809750"/>
            <a:ext cx="40599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598664" y="1876425"/>
            <a:ext cx="39075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Project assumption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15" name="rect"/>
          <p:cNvSpPr/>
          <p:nvPr/>
        </p:nvSpPr>
        <p:spPr>
          <a:xfrm>
            <a:off x="3462528" y="21526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38728" y="22098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which pixels lie on a ray or normal line</a:t>
            </a:r>
          </a:p>
        </p:txBody>
      </p:sp>
      <p:sp>
        <p:nvSpPr>
          <p:cNvPr id="17" name="rect"/>
          <p:cNvSpPr/>
          <p:nvPr/>
        </p:nvSpPr>
        <p:spPr>
          <a:xfrm>
            <a:off x="7522464" y="21526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7598664" y="22098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implemented explicit row/column sampling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63283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204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Threshold tuning</a:t>
            </a:r>
          </a:p>
        </p:txBody>
      </p:sp>
      <p:sp>
        <p:nvSpPr>
          <p:cNvPr id="21" name="rect"/>
          <p:cNvSpPr/>
          <p:nvPr/>
        </p:nvSpPr>
        <p:spPr>
          <a:xfrm>
            <a:off x="3462528" y="25632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538728" y="26204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64 works for paper scale, not universal</a:t>
            </a:r>
          </a:p>
        </p:txBody>
      </p:sp>
      <p:sp>
        <p:nvSpPr>
          <p:cNvPr id="23" name="rect"/>
          <p:cNvSpPr/>
          <p:nvPr/>
        </p:nvSpPr>
        <p:spPr>
          <a:xfrm>
            <a:off x="7522464" y="25632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7598664" y="26204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tested 40/64/90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2973917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310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 generation</a:t>
            </a:r>
          </a:p>
        </p:txBody>
      </p:sp>
      <p:sp>
        <p:nvSpPr>
          <p:cNvPr id="27" name="rect"/>
          <p:cNvSpPr/>
          <p:nvPr/>
        </p:nvSpPr>
        <p:spPr>
          <a:xfrm>
            <a:off x="3462528" y="29739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538728" y="30310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SNR cannot be reproduced exactly</a:t>
            </a:r>
          </a:p>
        </p:txBody>
      </p:sp>
      <p:sp>
        <p:nvSpPr>
          <p:cNvPr id="29" name="rect"/>
          <p:cNvSpPr/>
          <p:nvPr/>
        </p:nvSpPr>
        <p:spPr>
          <a:xfrm>
            <a:off x="7522464" y="29739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7598664" y="30310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documented Gaussian sigma and SNR cases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384550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417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3462528" y="3384550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538728" y="34417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 changes with radius</a:t>
            </a:r>
          </a:p>
        </p:txBody>
      </p:sp>
      <p:sp>
        <p:nvSpPr>
          <p:cNvPr id="35" name="rect"/>
          <p:cNvSpPr/>
          <p:nvPr/>
        </p:nvSpPr>
        <p:spPr>
          <a:xfrm>
            <a:off x="7522464" y="3384550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7598664" y="34417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used 2 px tolerance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3795183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38523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stopping</a:t>
            </a:r>
          </a:p>
        </p:txBody>
      </p:sp>
      <p:sp>
        <p:nvSpPr>
          <p:cNvPr id="39" name="rect"/>
          <p:cNvSpPr/>
          <p:nvPr/>
        </p:nvSpPr>
        <p:spPr>
          <a:xfrm>
            <a:off x="3462528" y="3795183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538728" y="38523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'closed contour?' is not code</a:t>
            </a:r>
          </a:p>
        </p:txBody>
      </p:sp>
      <p:sp>
        <p:nvSpPr>
          <p:cNvPr id="41" name="rect"/>
          <p:cNvSpPr/>
          <p:nvPr/>
        </p:nvSpPr>
        <p:spPr>
          <a:xfrm>
            <a:off x="7522464" y="3795183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7598664" y="38523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target tolerance plus guard rules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205817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2629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Tie-breaking</a:t>
            </a:r>
          </a:p>
        </p:txBody>
      </p:sp>
      <p:sp>
        <p:nvSpPr>
          <p:cNvPr id="45" name="rect"/>
          <p:cNvSpPr/>
          <p:nvPr/>
        </p:nvSpPr>
        <p:spPr>
          <a:xfrm>
            <a:off x="3462528" y="4205817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538728" y="42629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many candidate pixels can score similarly</a:t>
            </a:r>
          </a:p>
        </p:txBody>
      </p:sp>
      <p:sp>
        <p:nvSpPr>
          <p:cNvPr id="47" name="rect"/>
          <p:cNvSpPr/>
          <p:nvPr/>
        </p:nvSpPr>
        <p:spPr>
          <a:xfrm>
            <a:off x="7522464" y="4205817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7598664" y="42629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deterministic candidate order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4616450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4673600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51" name="rect"/>
          <p:cNvSpPr/>
          <p:nvPr/>
        </p:nvSpPr>
        <p:spPr>
          <a:xfrm>
            <a:off x="3462528" y="46164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3538728" y="46736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contour following can revisit pixels</a:t>
            </a:r>
          </a:p>
        </p:txBody>
      </p:sp>
      <p:sp>
        <p:nvSpPr>
          <p:cNvPr id="53" name="rect"/>
          <p:cNvSpPr/>
          <p:nvPr/>
        </p:nvSpPr>
        <p:spPr>
          <a:xfrm>
            <a:off x="7522464" y="4616450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7598664" y="4673600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visited-set and max-step checks</a:t>
            </a:r>
          </a:p>
        </p:txBody>
      </p:sp>
      <p:sp>
        <p:nvSpPr>
          <p:cNvPr id="55" name="rect"/>
          <p:cNvSpPr/>
          <p:nvPr/>
        </p:nvSpPr>
        <p:spPr>
          <a:xfrm>
            <a:off x="609600" y="5027083"/>
            <a:ext cx="2852928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685800" y="5084233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Missing scan-line edge</a:t>
            </a:r>
          </a:p>
        </p:txBody>
      </p:sp>
      <p:sp>
        <p:nvSpPr>
          <p:cNvPr id="57" name="rect"/>
          <p:cNvSpPr/>
          <p:nvPr/>
        </p:nvSpPr>
        <p:spPr>
          <a:xfrm>
            <a:off x="3462528" y="50270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538728" y="50842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lines can fail the threshold</a:t>
            </a:r>
          </a:p>
        </p:txBody>
      </p:sp>
      <p:sp>
        <p:nvSpPr>
          <p:cNvPr id="59" name="rect"/>
          <p:cNvSpPr/>
          <p:nvPr/>
        </p:nvSpPr>
        <p:spPr>
          <a:xfrm>
            <a:off x="7522464" y="5027083"/>
            <a:ext cx="4059936" cy="410633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598664" y="5084233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configurable fallback; default max-gradient point</a:t>
            </a:r>
          </a:p>
        </p:txBody>
      </p:sp>
      <p:sp>
        <p:nvSpPr>
          <p:cNvPr id="61" name="rect"/>
          <p:cNvSpPr/>
          <p:nvPr/>
        </p:nvSpPr>
        <p:spPr>
          <a:xfrm>
            <a:off x="609600" y="5437717"/>
            <a:ext cx="2852928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85800" y="5494867"/>
            <a:ext cx="2700528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Coordinate convention</a:t>
            </a:r>
          </a:p>
        </p:txBody>
      </p:sp>
      <p:sp>
        <p:nvSpPr>
          <p:cNvPr id="63" name="rect"/>
          <p:cNvSpPr/>
          <p:nvPr/>
        </p:nvSpPr>
        <p:spPr>
          <a:xfrm>
            <a:off x="3462528" y="54377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3538728" y="54948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 x/y vs OpenCV row/column</a:t>
            </a:r>
          </a:p>
        </p:txBody>
      </p:sp>
      <p:sp>
        <p:nvSpPr>
          <p:cNvPr id="65" name="rect"/>
          <p:cNvSpPr/>
          <p:nvPr/>
        </p:nvSpPr>
        <p:spPr>
          <a:xfrm>
            <a:off x="7522464" y="5437717"/>
            <a:ext cx="4059936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7598664" y="5494867"/>
            <a:ext cx="3907536" cy="315383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kept public points as (x, y)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09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BEST 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Parameter validation inside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defensible extension is not an external method; it is testing the under-specified choices inside the proposed algorithm.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66900"/>
            <a:ext cx="16916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933575"/>
            <a:ext cx="15392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Choice</a:t>
            </a:r>
          </a:p>
        </p:txBody>
      </p:sp>
      <p:sp>
        <p:nvSpPr>
          <p:cNvPr id="9" name="rect"/>
          <p:cNvSpPr/>
          <p:nvPr/>
        </p:nvSpPr>
        <p:spPr>
          <a:xfrm>
            <a:off x="2301240" y="1866900"/>
            <a:ext cx="155067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377440" y="1933575"/>
            <a:ext cx="139827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Tested values</a:t>
            </a:r>
          </a:p>
        </p:txBody>
      </p:sp>
      <p:sp>
        <p:nvSpPr>
          <p:cNvPr id="11" name="rect"/>
          <p:cNvSpPr/>
          <p:nvPr/>
        </p:nvSpPr>
        <p:spPr>
          <a:xfrm>
            <a:off x="3851910" y="1866900"/>
            <a:ext cx="380619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28110" y="1933575"/>
            <a:ext cx="365379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2098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669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Sobel threshold</a:t>
            </a:r>
          </a:p>
        </p:txBody>
      </p:sp>
      <p:sp>
        <p:nvSpPr>
          <p:cNvPr id="15" name="rect"/>
          <p:cNvSpPr/>
          <p:nvPr/>
        </p:nvSpPr>
        <p:spPr>
          <a:xfrm>
            <a:off x="2301240" y="22098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2377440" y="22669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40, 64, 90</a:t>
            </a:r>
          </a:p>
        </p:txBody>
      </p:sp>
      <p:sp>
        <p:nvSpPr>
          <p:cNvPr id="17" name="rect"/>
          <p:cNvSpPr/>
          <p:nvPr/>
        </p:nvSpPr>
        <p:spPr>
          <a:xfrm>
            <a:off x="3851910" y="22098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3928110" y="22669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U-noisy F1 changes only modestly; 64 is plausible but not uniquely optimal.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7241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7813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Initial scan lines</a:t>
            </a:r>
          </a:p>
        </p:txBody>
      </p:sp>
      <p:sp>
        <p:nvSpPr>
          <p:cNvPr id="21" name="rect"/>
          <p:cNvSpPr/>
          <p:nvPr/>
        </p:nvSpPr>
        <p:spPr>
          <a:xfrm>
            <a:off x="2301240" y="27241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2377440" y="27813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vs 8</a:t>
            </a:r>
          </a:p>
        </p:txBody>
      </p:sp>
      <p:sp>
        <p:nvSpPr>
          <p:cNvPr id="23" name="rect"/>
          <p:cNvSpPr/>
          <p:nvPr/>
        </p:nvSpPr>
        <p:spPr>
          <a:xfrm>
            <a:off x="3851910" y="27241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928110" y="27813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More rays do not automatically improve paper-mode U-shape performance.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2385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2956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IEPS iterations</a:t>
            </a:r>
          </a:p>
        </p:txBody>
      </p:sp>
      <p:sp>
        <p:nvSpPr>
          <p:cNvPr id="27" name="rect"/>
          <p:cNvSpPr/>
          <p:nvPr/>
        </p:nvSpPr>
        <p:spPr>
          <a:xfrm>
            <a:off x="2301240" y="32385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2377440" y="32956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2 vs 3</a:t>
            </a:r>
          </a:p>
        </p:txBody>
      </p:sp>
      <p:sp>
        <p:nvSpPr>
          <p:cNvPr id="29" name="rect"/>
          <p:cNvSpPr/>
          <p:nvPr/>
        </p:nvSpPr>
        <p:spPr>
          <a:xfrm>
            <a:off x="3851910" y="32385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3928110" y="32956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Additional refinement can shift points rather than monotonically improve them.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7528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8100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SCF tolerance</a:t>
            </a:r>
          </a:p>
        </p:txBody>
      </p:sp>
      <p:sp>
        <p:nvSpPr>
          <p:cNvPr id="33" name="rect"/>
          <p:cNvSpPr/>
          <p:nvPr/>
        </p:nvSpPr>
        <p:spPr>
          <a:xfrm>
            <a:off x="2301240" y="37528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377440" y="38100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1, 2, 3 px</a:t>
            </a:r>
          </a:p>
        </p:txBody>
      </p:sp>
      <p:sp>
        <p:nvSpPr>
          <p:cNvPr id="35" name="rect"/>
          <p:cNvSpPr/>
          <p:nvPr/>
        </p:nvSpPr>
        <p:spPr>
          <a:xfrm>
            <a:off x="3851910" y="37528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928110" y="38100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Stopping tolerance changes contour completeness and precision trade-off.</a:t>
            </a:r>
          </a:p>
        </p:txBody>
      </p:sp>
      <p:sp>
        <p:nvSpPr>
          <p:cNvPr id="37" name="rect"/>
          <p:cNvSpPr/>
          <p:nvPr/>
        </p:nvSpPr>
        <p:spPr>
          <a:xfrm>
            <a:off x="609600" y="4267200"/>
            <a:ext cx="169164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85800" y="432435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Score formula</a:t>
            </a:r>
          </a:p>
        </p:txBody>
      </p:sp>
      <p:sp>
        <p:nvSpPr>
          <p:cNvPr id="39" name="rect"/>
          <p:cNvSpPr/>
          <p:nvPr/>
        </p:nvSpPr>
        <p:spPr>
          <a:xfrm>
            <a:off x="2301240" y="4267200"/>
            <a:ext cx="155067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2377440" y="432435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gradient only vs gradient/distance</a:t>
            </a:r>
          </a:p>
        </p:txBody>
      </p:sp>
      <p:sp>
        <p:nvSpPr>
          <p:cNvPr id="41" name="rect"/>
          <p:cNvSpPr/>
          <p:nvPr/>
        </p:nvSpPr>
        <p:spPr>
          <a:xfrm>
            <a:off x="3851910" y="4267200"/>
            <a:ext cx="3806190" cy="5143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3928110" y="432435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Distance term makes the rule closer to the paper's gravity description.</a:t>
            </a:r>
          </a:p>
        </p:txBody>
      </p:sp>
      <p:sp>
        <p:nvSpPr>
          <p:cNvPr id="43" name="rect"/>
          <p:cNvSpPr/>
          <p:nvPr/>
        </p:nvSpPr>
        <p:spPr>
          <a:xfrm>
            <a:off x="609600" y="4781550"/>
            <a:ext cx="169164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85800" y="4838700"/>
            <a:ext cx="15392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b="1" dirty="0">
                <a:solidFill>
                  <a:srgbClr val="111827"/>
                </a:solidFill>
                <a:latin typeface="Aptos"/>
                <a:cs typeface="Aptos"/>
              </a:rPr>
              <a:t>Noise</a:t>
            </a:r>
          </a:p>
        </p:txBody>
      </p:sp>
      <p:sp>
        <p:nvSpPr>
          <p:cNvPr id="45" name="rect"/>
          <p:cNvSpPr/>
          <p:nvPr/>
        </p:nvSpPr>
        <p:spPr>
          <a:xfrm>
            <a:off x="2301240" y="4781550"/>
            <a:ext cx="155067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2377440" y="4838700"/>
            <a:ext cx="139827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clean, low, paper-like</a:t>
            </a:r>
          </a:p>
        </p:txBody>
      </p:sp>
      <p:sp>
        <p:nvSpPr>
          <p:cNvPr id="47" name="rect"/>
          <p:cNvSpPr/>
          <p:nvPr/>
        </p:nvSpPr>
        <p:spPr>
          <a:xfrm>
            <a:off x="3851910" y="4781550"/>
            <a:ext cx="3806190" cy="5143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928110" y="4838700"/>
            <a:ext cx="365379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Noise primarily hurts concave U-shape contour quality.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8096250" y="19621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Threshold study F1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8096250" y="23050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T=40</a:t>
            </a:r>
          </a:p>
        </p:txBody>
      </p:sp>
      <p:sp>
        <p:nvSpPr>
          <p:cNvPr id="51" name="rect"/>
          <p:cNvSpPr/>
          <p:nvPr/>
        </p:nvSpPr>
        <p:spPr>
          <a:xfrm>
            <a:off x="9525000" y="23336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2" name="rect"/>
          <p:cNvSpPr/>
          <p:nvPr/>
        </p:nvSpPr>
        <p:spPr>
          <a:xfrm>
            <a:off x="9525000" y="2333625"/>
            <a:ext cx="549783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10534650" y="23145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57.7%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8096250" y="288290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T=64</a:t>
            </a:r>
          </a:p>
        </p:txBody>
      </p:sp>
      <p:sp>
        <p:nvSpPr>
          <p:cNvPr id="55" name="rect"/>
          <p:cNvSpPr/>
          <p:nvPr/>
        </p:nvSpPr>
        <p:spPr>
          <a:xfrm>
            <a:off x="9525000" y="291147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56" name="rect"/>
          <p:cNvSpPr/>
          <p:nvPr/>
        </p:nvSpPr>
        <p:spPr>
          <a:xfrm>
            <a:off x="9525000" y="2911475"/>
            <a:ext cx="562737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10534650" y="289242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8096250" y="3460750"/>
            <a:ext cx="131445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T=90</a:t>
            </a:r>
          </a:p>
        </p:txBody>
      </p:sp>
      <p:sp>
        <p:nvSpPr>
          <p:cNvPr id="59" name="rect"/>
          <p:cNvSpPr/>
          <p:nvPr/>
        </p:nvSpPr>
        <p:spPr>
          <a:xfrm>
            <a:off x="9525000" y="3489325"/>
            <a:ext cx="952500" cy="34925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0" name="rect"/>
          <p:cNvSpPr/>
          <p:nvPr/>
        </p:nvSpPr>
        <p:spPr>
          <a:xfrm>
            <a:off x="9525000" y="3489325"/>
            <a:ext cx="565309" cy="3492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61" name="text"/>
          <p:cNvSpPr txBox="1"/>
          <p:nvPr/>
        </p:nvSpPr>
        <p:spPr>
          <a:xfrm>
            <a:off x="10534650" y="3470275"/>
            <a:ext cx="609600" cy="444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59.4%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8096250" y="4324350"/>
            <a:ext cx="3048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800" b="1" dirty="0">
                <a:solidFill>
                  <a:srgbClr val="111827"/>
                </a:solidFill>
                <a:latin typeface="Aptos"/>
                <a:cs typeface="Aptos"/>
              </a:rPr>
              <a:t>Noise study F1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8096250" y="46672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clean</a:t>
            </a:r>
          </a:p>
        </p:txBody>
      </p:sp>
      <p:sp>
        <p:nvSpPr>
          <p:cNvPr id="64" name="rect"/>
          <p:cNvSpPr/>
          <p:nvPr/>
        </p:nvSpPr>
        <p:spPr>
          <a:xfrm>
            <a:off x="9525000" y="46958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5" name="rect"/>
          <p:cNvSpPr/>
          <p:nvPr/>
        </p:nvSpPr>
        <p:spPr>
          <a:xfrm>
            <a:off x="9525000" y="4695825"/>
            <a:ext cx="584359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10534650" y="46767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61.4%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096250" y="50736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low</a:t>
            </a:r>
          </a:p>
        </p:txBody>
      </p:sp>
      <p:sp>
        <p:nvSpPr>
          <p:cNvPr id="68" name="rect"/>
          <p:cNvSpPr/>
          <p:nvPr/>
        </p:nvSpPr>
        <p:spPr>
          <a:xfrm>
            <a:off x="9525000" y="51022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69" name="rect"/>
          <p:cNvSpPr/>
          <p:nvPr/>
        </p:nvSpPr>
        <p:spPr>
          <a:xfrm>
            <a:off x="9525000" y="5102225"/>
            <a:ext cx="564356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10534650" y="50831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59.2%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8096250" y="5480050"/>
            <a:ext cx="131445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111827"/>
                </a:solidFill>
                <a:latin typeface="Aptos"/>
                <a:cs typeface="Aptos"/>
              </a:rPr>
              <a:t>paper-like</a:t>
            </a:r>
          </a:p>
        </p:txBody>
      </p:sp>
      <p:sp>
        <p:nvSpPr>
          <p:cNvPr id="72" name="rect"/>
          <p:cNvSpPr/>
          <p:nvPr/>
        </p:nvSpPr>
        <p:spPr>
          <a:xfrm>
            <a:off x="9525000" y="5508625"/>
            <a:ext cx="952500" cy="177800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73" name="rect"/>
          <p:cNvSpPr/>
          <p:nvPr/>
        </p:nvSpPr>
        <p:spPr>
          <a:xfrm>
            <a:off x="9525000" y="5508625"/>
            <a:ext cx="562737" cy="1778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10534650" y="5489575"/>
            <a:ext cx="609600" cy="2730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75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10</a:t>
            </a:r>
          </a:p>
        </p:txBody>
      </p:sp>
      <p:sp>
        <p:nvSpPr>
          <p:cNvPr id="76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EXTENSION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Traditional-CV improvement: interior seed + denser coverage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improved mode keeps the research inside IEPS: it changes the seed and coverage, not the problem into deep learning or unrelated preprocessing.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667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66750" y="1943100"/>
            <a:ext cx="66675" cy="142875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382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Problem in paper IEPS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382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paper assumes the center of gravity lies inside a star-convex object. On concave U-shapes, this can place rays through the notch or create poor angular ordering.</a:t>
            </a:r>
          </a:p>
        </p:txBody>
      </p:sp>
      <p:sp>
        <p:nvSpPr>
          <p:cNvPr id="11" name="rect"/>
          <p:cNvSpPr/>
          <p:nvPr/>
        </p:nvSpPr>
        <p:spPr>
          <a:xfrm>
            <a:off x="45148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514850" y="1943100"/>
            <a:ext cx="66675" cy="14287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863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863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Use an Otsu silhouette only to check the seed. If the CoG is outside foreground, relocate to the distance-transform maximum, then use denser radial coverage.</a:t>
            </a:r>
          </a:p>
        </p:txBody>
      </p:sp>
      <p:sp>
        <p:nvSpPr>
          <p:cNvPr id="15" name="rect"/>
          <p:cNvSpPr/>
          <p:nvPr/>
        </p:nvSpPr>
        <p:spPr>
          <a:xfrm>
            <a:off x="8362950" y="1943100"/>
            <a:ext cx="3143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362950" y="1943100"/>
            <a:ext cx="66675" cy="14287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534400" y="2095500"/>
            <a:ext cx="28765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Research position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534400" y="2419350"/>
            <a:ext cx="2838450" cy="857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This is an extension, not the main method. The report preserves paper-mode IEPS + greedy SCF as the primary reproduction.</a:t>
            </a:r>
          </a:p>
        </p:txBody>
      </p:sp>
      <p:sp>
        <p:nvSpPr>
          <p:cNvPr id="19" name="rect"/>
          <p:cNvSpPr/>
          <p:nvPr/>
        </p:nvSpPr>
        <p:spPr>
          <a:xfrm>
            <a:off x="895350" y="4210050"/>
            <a:ext cx="2487168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71550" y="4276725"/>
            <a:ext cx="2334768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21" name="rect"/>
          <p:cNvSpPr/>
          <p:nvPr/>
        </p:nvSpPr>
        <p:spPr>
          <a:xfrm>
            <a:off x="3382518" y="4210050"/>
            <a:ext cx="155448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458718" y="4276725"/>
            <a:ext cx="14020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F1</a:t>
            </a:r>
          </a:p>
        </p:txBody>
      </p:sp>
      <p:sp>
        <p:nvSpPr>
          <p:cNvPr id="23" name="rect"/>
          <p:cNvSpPr/>
          <p:nvPr/>
        </p:nvSpPr>
        <p:spPr>
          <a:xfrm>
            <a:off x="493699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01319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F1</a:t>
            </a:r>
          </a:p>
        </p:txBody>
      </p:sp>
      <p:sp>
        <p:nvSpPr>
          <p:cNvPr id="25" name="rect"/>
          <p:cNvSpPr/>
          <p:nvPr/>
        </p:nvSpPr>
        <p:spPr>
          <a:xfrm>
            <a:off x="6595110" y="4210050"/>
            <a:ext cx="134721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671310" y="4276725"/>
            <a:ext cx="119481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Delta</a:t>
            </a:r>
          </a:p>
        </p:txBody>
      </p:sp>
      <p:sp>
        <p:nvSpPr>
          <p:cNvPr id="27" name="rect"/>
          <p:cNvSpPr/>
          <p:nvPr/>
        </p:nvSpPr>
        <p:spPr>
          <a:xfrm>
            <a:off x="7942326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8018526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IEPS</a:t>
            </a:r>
          </a:p>
        </p:txBody>
      </p:sp>
      <p:sp>
        <p:nvSpPr>
          <p:cNvPr id="29" name="rect"/>
          <p:cNvSpPr/>
          <p:nvPr/>
        </p:nvSpPr>
        <p:spPr>
          <a:xfrm>
            <a:off x="9600438" y="4210050"/>
            <a:ext cx="165811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9676638" y="4276725"/>
            <a:ext cx="150571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Improved IEPS</a:t>
            </a:r>
          </a:p>
        </p:txBody>
      </p:sp>
      <p:sp>
        <p:nvSpPr>
          <p:cNvPr id="31" name="rect"/>
          <p:cNvSpPr/>
          <p:nvPr/>
        </p:nvSpPr>
        <p:spPr>
          <a:xfrm>
            <a:off x="895350" y="45529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971550" y="46101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3" name="rect"/>
          <p:cNvSpPr/>
          <p:nvPr/>
        </p:nvSpPr>
        <p:spPr>
          <a:xfrm>
            <a:off x="3382518" y="45529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458718" y="46101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5" name="rect"/>
          <p:cNvSpPr/>
          <p:nvPr/>
        </p:nvSpPr>
        <p:spPr>
          <a:xfrm>
            <a:off x="493699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501319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7" name="rect"/>
          <p:cNvSpPr/>
          <p:nvPr/>
        </p:nvSpPr>
        <p:spPr>
          <a:xfrm>
            <a:off x="6595110" y="45529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671310" y="46101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+0.0 pts</a:t>
            </a:r>
          </a:p>
        </p:txBody>
      </p:sp>
      <p:sp>
        <p:nvSpPr>
          <p:cNvPr id="39" name="rect"/>
          <p:cNvSpPr/>
          <p:nvPr/>
        </p:nvSpPr>
        <p:spPr>
          <a:xfrm>
            <a:off x="7942326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8018526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9600438" y="45529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9676638" y="46101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895350" y="4857750"/>
            <a:ext cx="2487168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971550" y="49149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45" name="rect"/>
          <p:cNvSpPr/>
          <p:nvPr/>
        </p:nvSpPr>
        <p:spPr>
          <a:xfrm>
            <a:off x="3382518" y="4857750"/>
            <a:ext cx="1554480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3458718" y="49149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61.4%</a:t>
            </a:r>
          </a:p>
        </p:txBody>
      </p:sp>
      <p:sp>
        <p:nvSpPr>
          <p:cNvPr id="47" name="rect"/>
          <p:cNvSpPr/>
          <p:nvPr/>
        </p:nvSpPr>
        <p:spPr>
          <a:xfrm>
            <a:off x="493699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501319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70.0%</a:t>
            </a:r>
          </a:p>
        </p:txBody>
      </p:sp>
      <p:sp>
        <p:nvSpPr>
          <p:cNvPr id="49" name="rect"/>
          <p:cNvSpPr/>
          <p:nvPr/>
        </p:nvSpPr>
        <p:spPr>
          <a:xfrm>
            <a:off x="6595110" y="4857750"/>
            <a:ext cx="1347216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671310" y="49149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+8.7 pts</a:t>
            </a:r>
          </a:p>
        </p:txBody>
      </p:sp>
      <p:sp>
        <p:nvSpPr>
          <p:cNvPr id="51" name="rect"/>
          <p:cNvSpPr/>
          <p:nvPr/>
        </p:nvSpPr>
        <p:spPr>
          <a:xfrm>
            <a:off x="7942326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8018526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53" name="rect"/>
          <p:cNvSpPr/>
          <p:nvPr/>
        </p:nvSpPr>
        <p:spPr>
          <a:xfrm>
            <a:off x="9600438" y="4857750"/>
            <a:ext cx="1658112" cy="3048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9676638" y="49149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55" name="rect"/>
          <p:cNvSpPr/>
          <p:nvPr/>
        </p:nvSpPr>
        <p:spPr>
          <a:xfrm>
            <a:off x="895350" y="5162550"/>
            <a:ext cx="2487168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971550" y="5219700"/>
            <a:ext cx="2334768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7" name="rect"/>
          <p:cNvSpPr/>
          <p:nvPr/>
        </p:nvSpPr>
        <p:spPr>
          <a:xfrm>
            <a:off x="3382518" y="5162550"/>
            <a:ext cx="155448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3458718" y="5219700"/>
            <a:ext cx="1402080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59" name="rect"/>
          <p:cNvSpPr/>
          <p:nvPr/>
        </p:nvSpPr>
        <p:spPr>
          <a:xfrm>
            <a:off x="493699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501319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69.7%</a:t>
            </a:r>
          </a:p>
        </p:txBody>
      </p:sp>
      <p:sp>
        <p:nvSpPr>
          <p:cNvPr id="61" name="rect"/>
          <p:cNvSpPr/>
          <p:nvPr/>
        </p:nvSpPr>
        <p:spPr>
          <a:xfrm>
            <a:off x="6595110" y="5162550"/>
            <a:ext cx="1347216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6671310" y="5219700"/>
            <a:ext cx="1194816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+10.6 pts</a:t>
            </a:r>
          </a:p>
        </p:txBody>
      </p:sp>
      <p:sp>
        <p:nvSpPr>
          <p:cNvPr id="63" name="rect"/>
          <p:cNvSpPr/>
          <p:nvPr/>
        </p:nvSpPr>
        <p:spPr>
          <a:xfrm>
            <a:off x="7942326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8018526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78.1%</a:t>
            </a:r>
          </a:p>
        </p:txBody>
      </p:sp>
      <p:sp>
        <p:nvSpPr>
          <p:cNvPr id="65" name="rect"/>
          <p:cNvSpPr/>
          <p:nvPr/>
        </p:nvSpPr>
        <p:spPr>
          <a:xfrm>
            <a:off x="9600438" y="5162550"/>
            <a:ext cx="1658112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9676638" y="5219700"/>
            <a:ext cx="1505712" cy="2095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895350" y="5581650"/>
            <a:ext cx="10363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Scope note: the improvement is claimed for the synthetic concave U-shape only. On the real vase the improved mode underperforms paper mode (proxy F1 0.25 vs 0.94), so it is an extension for the U-shape failure mode, not a general upgrade.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11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METHOD AUDIT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SCF implementation variants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paper-faithful greedy SCF is the default. Graph variants test whether the local segment-following assumption is responsible for U-shape errors.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42950" y="1866900"/>
            <a:ext cx="118872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933575"/>
            <a:ext cx="103632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Method</a:t>
            </a:r>
          </a:p>
        </p:txBody>
      </p:sp>
      <p:sp>
        <p:nvSpPr>
          <p:cNvPr id="9" name="rect"/>
          <p:cNvSpPr/>
          <p:nvPr/>
        </p:nvSpPr>
        <p:spPr>
          <a:xfrm>
            <a:off x="1931670" y="1866900"/>
            <a:ext cx="18821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007870" y="1933575"/>
            <a:ext cx="17297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Role</a:t>
            </a:r>
          </a:p>
        </p:txBody>
      </p:sp>
      <p:sp>
        <p:nvSpPr>
          <p:cNvPr id="11" name="rect"/>
          <p:cNvSpPr/>
          <p:nvPr/>
        </p:nvSpPr>
        <p:spPr>
          <a:xfrm>
            <a:off x="3813810" y="1866900"/>
            <a:ext cx="89154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890010" y="1933575"/>
            <a:ext cx="73914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 noisy F1</a:t>
            </a:r>
          </a:p>
        </p:txBody>
      </p:sp>
      <p:sp>
        <p:nvSpPr>
          <p:cNvPr id="13" name="rect"/>
          <p:cNvSpPr/>
          <p:nvPr/>
        </p:nvSpPr>
        <p:spPr>
          <a:xfrm>
            <a:off x="4705350" y="1866900"/>
            <a:ext cx="9906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781550" y="1933575"/>
            <a:ext cx="838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Runtime</a:t>
            </a:r>
          </a:p>
        </p:txBody>
      </p:sp>
      <p:sp>
        <p:nvSpPr>
          <p:cNvPr id="15" name="rect"/>
          <p:cNvSpPr/>
          <p:nvPr/>
        </p:nvSpPr>
        <p:spPr>
          <a:xfrm>
            <a:off x="742950" y="22098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819150" y="22669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greedy</a:t>
            </a:r>
          </a:p>
        </p:txBody>
      </p:sp>
      <p:sp>
        <p:nvSpPr>
          <p:cNvPr id="17" name="rect"/>
          <p:cNvSpPr/>
          <p:nvPr/>
        </p:nvSpPr>
        <p:spPr>
          <a:xfrm>
            <a:off x="1931670" y="22098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2007870" y="22669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local tracing</a:t>
            </a:r>
          </a:p>
        </p:txBody>
      </p:sp>
      <p:sp>
        <p:nvSpPr>
          <p:cNvPr id="19" name="rect"/>
          <p:cNvSpPr/>
          <p:nvPr/>
        </p:nvSpPr>
        <p:spPr>
          <a:xfrm>
            <a:off x="3813810" y="22098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890010" y="22669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59.1%</a:t>
            </a:r>
          </a:p>
        </p:txBody>
      </p:sp>
      <p:sp>
        <p:nvSpPr>
          <p:cNvPr id="21" name="rect"/>
          <p:cNvSpPr/>
          <p:nvPr/>
        </p:nvSpPr>
        <p:spPr>
          <a:xfrm>
            <a:off x="4705350" y="22098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781550" y="22669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9.3 ms</a:t>
            </a:r>
          </a:p>
        </p:txBody>
      </p:sp>
      <p:sp>
        <p:nvSpPr>
          <p:cNvPr id="23" name="rect"/>
          <p:cNvSpPr/>
          <p:nvPr/>
        </p:nvSpPr>
        <p:spPr>
          <a:xfrm>
            <a:off x="742950" y="2762250"/>
            <a:ext cx="118872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19150" y="281940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</a:t>
            </a:r>
          </a:p>
        </p:txBody>
      </p:sp>
      <p:sp>
        <p:nvSpPr>
          <p:cNvPr id="25" name="rect"/>
          <p:cNvSpPr/>
          <p:nvPr/>
        </p:nvSpPr>
        <p:spPr>
          <a:xfrm>
            <a:off x="1931670" y="2762250"/>
            <a:ext cx="18821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2007870" y="281940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global cost path</a:t>
            </a:r>
          </a:p>
        </p:txBody>
      </p:sp>
      <p:sp>
        <p:nvSpPr>
          <p:cNvPr id="27" name="rect"/>
          <p:cNvSpPr/>
          <p:nvPr/>
        </p:nvSpPr>
        <p:spPr>
          <a:xfrm>
            <a:off x="3813810" y="2762250"/>
            <a:ext cx="89154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890010" y="281940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61.1%</a:t>
            </a:r>
          </a:p>
        </p:txBody>
      </p:sp>
      <p:sp>
        <p:nvSpPr>
          <p:cNvPr id="29" name="rect"/>
          <p:cNvSpPr/>
          <p:nvPr/>
        </p:nvSpPr>
        <p:spPr>
          <a:xfrm>
            <a:off x="4705350" y="2762250"/>
            <a:ext cx="990600" cy="5524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781550" y="281940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166.5 ms</a:t>
            </a:r>
          </a:p>
        </p:txBody>
      </p:sp>
      <p:sp>
        <p:nvSpPr>
          <p:cNvPr id="31" name="rect"/>
          <p:cNvSpPr/>
          <p:nvPr/>
        </p:nvSpPr>
        <p:spPr>
          <a:xfrm>
            <a:off x="742950" y="3314700"/>
            <a:ext cx="118872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19150" y="3371850"/>
            <a:ext cx="10363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band_graph</a:t>
            </a:r>
          </a:p>
        </p:txBody>
      </p:sp>
      <p:sp>
        <p:nvSpPr>
          <p:cNvPr id="33" name="rect"/>
          <p:cNvSpPr/>
          <p:nvPr/>
        </p:nvSpPr>
        <p:spPr>
          <a:xfrm>
            <a:off x="1931670" y="3314700"/>
            <a:ext cx="18821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2007870" y="3371850"/>
            <a:ext cx="17297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corridor + curvature penalty</a:t>
            </a:r>
          </a:p>
        </p:txBody>
      </p:sp>
      <p:sp>
        <p:nvSpPr>
          <p:cNvPr id="35" name="rect"/>
          <p:cNvSpPr/>
          <p:nvPr/>
        </p:nvSpPr>
        <p:spPr>
          <a:xfrm>
            <a:off x="3813810" y="3314700"/>
            <a:ext cx="89154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890010" y="3371850"/>
            <a:ext cx="7391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61.2%</a:t>
            </a:r>
          </a:p>
        </p:txBody>
      </p:sp>
      <p:sp>
        <p:nvSpPr>
          <p:cNvPr id="37" name="rect"/>
          <p:cNvSpPr/>
          <p:nvPr/>
        </p:nvSpPr>
        <p:spPr>
          <a:xfrm>
            <a:off x="4705350" y="3314700"/>
            <a:ext cx="9906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781550" y="3371850"/>
            <a:ext cx="838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1824.5 ms</a:t>
            </a:r>
          </a:p>
        </p:txBody>
      </p:sp>
      <p:pic>
        <p:nvPicPr>
          <p:cNvPr id="39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400800" y="2203450"/>
            <a:ext cx="4762500" cy="793750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6400800" y="35242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paper-style greedy</a:t>
            </a:r>
          </a:p>
        </p:txBody>
      </p:sp>
      <p:pic>
        <p:nvPicPr>
          <p:cNvPr id="41" name="image" descr="panel_band_graph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0" y="4546600"/>
            <a:ext cx="4762500" cy="793750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6400800" y="58674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band graph variant</a:t>
            </a:r>
          </a:p>
        </p:txBody>
      </p:sp>
      <p:sp>
        <p:nvSpPr>
          <p:cNvPr id="43" name="rect"/>
          <p:cNvSpPr/>
          <p:nvPr/>
        </p:nvSpPr>
        <p:spPr>
          <a:xfrm>
            <a:off x="762000" y="4400550"/>
            <a:ext cx="4933950" cy="971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4" name="rect"/>
          <p:cNvSpPr/>
          <p:nvPr/>
        </p:nvSpPr>
        <p:spPr>
          <a:xfrm>
            <a:off x="762000" y="4400550"/>
            <a:ext cx="66675" cy="9715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933450" y="4552950"/>
            <a:ext cx="4667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Interpretation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933450" y="4876800"/>
            <a:ext cx="46291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Band-graph improves contour quality slightly on the U-shape, but the larger improvement comes from IEPS initialization. That supports the paper's emphasis on initial edge point quality.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12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UNAVAILABLE BASELINE SOURCE CODE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Baseline comparisons are contextual only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paper reports Yuen, Snake/Kass, and Chen comparisons, but it does not provide enough implementation detail for exact source-level reproduction.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809750"/>
            <a:ext cx="2633472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876425"/>
            <a:ext cx="248107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 comparison</a:t>
            </a:r>
          </a:p>
        </p:txBody>
      </p:sp>
      <p:sp>
        <p:nvSpPr>
          <p:cNvPr id="9" name="rect"/>
          <p:cNvSpPr/>
          <p:nvPr/>
        </p:nvSpPr>
        <p:spPr>
          <a:xfrm>
            <a:off x="3243072" y="1809750"/>
            <a:ext cx="526694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3319272" y="1876425"/>
            <a:ext cx="511454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this project implements</a:t>
            </a:r>
          </a:p>
        </p:txBody>
      </p:sp>
      <p:sp>
        <p:nvSpPr>
          <p:cNvPr id="11" name="rect"/>
          <p:cNvSpPr/>
          <p:nvPr/>
        </p:nvSpPr>
        <p:spPr>
          <a:xfrm>
            <a:off x="8510016" y="1809750"/>
            <a:ext cx="30723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8586216" y="1876425"/>
            <a:ext cx="29199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Claim level</a:t>
            </a:r>
          </a:p>
        </p:txBody>
      </p:sp>
      <p:sp>
        <p:nvSpPr>
          <p:cNvPr id="13" name="rect"/>
          <p:cNvSpPr/>
          <p:nvPr/>
        </p:nvSpPr>
        <p:spPr>
          <a:xfrm>
            <a:off x="609600" y="2152650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685800" y="2209800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Yuen initialization</a:t>
            </a:r>
          </a:p>
        </p:txBody>
      </p:sp>
      <p:sp>
        <p:nvSpPr>
          <p:cNvPr id="15" name="rect"/>
          <p:cNvSpPr/>
          <p:nvPr/>
        </p:nvSpPr>
        <p:spPr>
          <a:xfrm>
            <a:off x="3243072" y="2152650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319272" y="2209800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fixed-angle farthest-edge approximation</a:t>
            </a:r>
          </a:p>
        </p:txBody>
      </p:sp>
      <p:sp>
        <p:nvSpPr>
          <p:cNvPr id="17" name="rect"/>
          <p:cNvSpPr/>
          <p:nvPr/>
        </p:nvSpPr>
        <p:spPr>
          <a:xfrm>
            <a:off x="8510016" y="2152650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586216" y="2209800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context-only baseline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2576512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685800" y="2633662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Snake/Kass</a:t>
            </a:r>
          </a:p>
        </p:txBody>
      </p:sp>
      <p:sp>
        <p:nvSpPr>
          <p:cNvPr id="21" name="rect"/>
          <p:cNvSpPr/>
          <p:nvPr/>
        </p:nvSpPr>
        <p:spPr>
          <a:xfrm>
            <a:off x="3243072" y="2576512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3319272" y="2633662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simple greedy Snake-style relaxation</a:t>
            </a:r>
          </a:p>
        </p:txBody>
      </p:sp>
      <p:sp>
        <p:nvSpPr>
          <p:cNvPr id="23" name="rect"/>
          <p:cNvSpPr/>
          <p:nvPr/>
        </p:nvSpPr>
        <p:spPr>
          <a:xfrm>
            <a:off x="8510016" y="2576512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8586216" y="2633662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full variational solver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3000375"/>
            <a:ext cx="2633472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3057525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Chen tracing</a:t>
            </a:r>
          </a:p>
        </p:txBody>
      </p:sp>
      <p:sp>
        <p:nvSpPr>
          <p:cNvPr id="27" name="rect"/>
          <p:cNvSpPr/>
          <p:nvPr/>
        </p:nvSpPr>
        <p:spPr>
          <a:xfrm>
            <a:off x="3243072" y="3000375"/>
            <a:ext cx="526694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9272" y="3057525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gradient-only SCF approximation</a:t>
            </a:r>
          </a:p>
        </p:txBody>
      </p:sp>
      <p:sp>
        <p:nvSpPr>
          <p:cNvPr id="29" name="rect"/>
          <p:cNvSpPr/>
          <p:nvPr/>
        </p:nvSpPr>
        <p:spPr>
          <a:xfrm>
            <a:off x="8510016" y="3000375"/>
            <a:ext cx="3072384" cy="423862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8586216" y="3057525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behavioral context</a:t>
            </a:r>
          </a:p>
        </p:txBody>
      </p:sp>
      <p:sp>
        <p:nvSpPr>
          <p:cNvPr id="31" name="rect"/>
          <p:cNvSpPr/>
          <p:nvPr/>
        </p:nvSpPr>
        <p:spPr>
          <a:xfrm>
            <a:off x="609600" y="3424238"/>
            <a:ext cx="2633472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85800" y="3481388"/>
            <a:ext cx="2481072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SNR table</a:t>
            </a:r>
          </a:p>
        </p:txBody>
      </p:sp>
      <p:sp>
        <p:nvSpPr>
          <p:cNvPr id="33" name="rect"/>
          <p:cNvSpPr/>
          <p:nvPr/>
        </p:nvSpPr>
        <p:spPr>
          <a:xfrm>
            <a:off x="3243072" y="3424238"/>
            <a:ext cx="526694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3319272" y="3481388"/>
            <a:ext cx="511454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Gaussian SNR noise generated from image variance</a:t>
            </a:r>
          </a:p>
        </p:txBody>
      </p:sp>
      <p:sp>
        <p:nvSpPr>
          <p:cNvPr id="35" name="rect"/>
          <p:cNvSpPr/>
          <p:nvPr/>
        </p:nvSpPr>
        <p:spPr>
          <a:xfrm>
            <a:off x="8510016" y="3424238"/>
            <a:ext cx="3072384" cy="423862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8586216" y="3481388"/>
            <a:ext cx="2919984" cy="32861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not pixel-identical noise</a:t>
            </a:r>
          </a:p>
        </p:txBody>
      </p:sp>
      <p:sp>
        <p:nvSpPr>
          <p:cNvPr id="37" name="rect"/>
          <p:cNvSpPr/>
          <p:nvPr/>
        </p:nvSpPr>
        <p:spPr>
          <a:xfrm>
            <a:off x="1104900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1181100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39" name="rect"/>
          <p:cNvSpPr/>
          <p:nvPr/>
        </p:nvSpPr>
        <p:spPr>
          <a:xfrm>
            <a:off x="3300984" y="4400550"/>
            <a:ext cx="219608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377184" y="4467225"/>
            <a:ext cx="204368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Yuen-style true points</a:t>
            </a:r>
          </a:p>
        </p:txBody>
      </p:sp>
      <p:sp>
        <p:nvSpPr>
          <p:cNvPr id="41" name="rect"/>
          <p:cNvSpPr/>
          <p:nvPr/>
        </p:nvSpPr>
        <p:spPr>
          <a:xfrm>
            <a:off x="5497068" y="4400550"/>
            <a:ext cx="179679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573268" y="4467225"/>
            <a:ext cx="164439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true points</a:t>
            </a:r>
          </a:p>
        </p:txBody>
      </p:sp>
      <p:sp>
        <p:nvSpPr>
          <p:cNvPr id="43" name="rect"/>
          <p:cNvSpPr/>
          <p:nvPr/>
        </p:nvSpPr>
        <p:spPr>
          <a:xfrm>
            <a:off x="7293864" y="4400550"/>
            <a:ext cx="37932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7370064" y="4467225"/>
            <a:ext cx="36408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What to say</a:t>
            </a:r>
          </a:p>
        </p:txBody>
      </p:sp>
      <p:sp>
        <p:nvSpPr>
          <p:cNvPr id="45" name="rect"/>
          <p:cNvSpPr/>
          <p:nvPr/>
        </p:nvSpPr>
        <p:spPr>
          <a:xfrm>
            <a:off x="1104900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1181100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47" name="rect"/>
          <p:cNvSpPr/>
          <p:nvPr/>
        </p:nvSpPr>
        <p:spPr>
          <a:xfrm>
            <a:off x="3300984" y="4743450"/>
            <a:ext cx="2196084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3377184" y="480060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49" name="rect"/>
          <p:cNvSpPr/>
          <p:nvPr/>
        </p:nvSpPr>
        <p:spPr>
          <a:xfrm>
            <a:off x="5497068" y="4743450"/>
            <a:ext cx="179679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5573268" y="480060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32/32</a:t>
            </a:r>
          </a:p>
        </p:txBody>
      </p:sp>
      <p:sp>
        <p:nvSpPr>
          <p:cNvPr id="51" name="rect"/>
          <p:cNvSpPr/>
          <p:nvPr/>
        </p:nvSpPr>
        <p:spPr>
          <a:xfrm>
            <a:off x="7293864" y="4743450"/>
            <a:ext cx="3793236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370064" y="480060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both succeed on current synthetic circle</a:t>
            </a:r>
          </a:p>
        </p:txBody>
      </p:sp>
      <p:sp>
        <p:nvSpPr>
          <p:cNvPr id="53" name="rect"/>
          <p:cNvSpPr/>
          <p:nvPr/>
        </p:nvSpPr>
        <p:spPr>
          <a:xfrm>
            <a:off x="1104900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1181100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55" name="rect"/>
          <p:cNvSpPr/>
          <p:nvPr/>
        </p:nvSpPr>
        <p:spPr>
          <a:xfrm>
            <a:off x="3300984" y="5067300"/>
            <a:ext cx="2196084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3377184" y="5124450"/>
            <a:ext cx="20436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29/32</a:t>
            </a:r>
          </a:p>
        </p:txBody>
      </p:sp>
      <p:sp>
        <p:nvSpPr>
          <p:cNvPr id="57" name="rect"/>
          <p:cNvSpPr/>
          <p:nvPr/>
        </p:nvSpPr>
        <p:spPr>
          <a:xfrm>
            <a:off x="5497068" y="5067300"/>
            <a:ext cx="179679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5573268" y="5124450"/>
            <a:ext cx="164439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25/32</a:t>
            </a:r>
          </a:p>
        </p:txBody>
      </p:sp>
      <p:sp>
        <p:nvSpPr>
          <p:cNvPr id="59" name="rect"/>
          <p:cNvSpPr/>
          <p:nvPr/>
        </p:nvSpPr>
        <p:spPr>
          <a:xfrm>
            <a:off x="7293864" y="5067300"/>
            <a:ext cx="3793236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7370064" y="5124450"/>
            <a:ext cx="36408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opposite direction vs paper Table II; approximation limitation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1104900" y="5524500"/>
            <a:ext cx="9982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Current runs also show Snake from Yuen-style points &gt;= Snake from IEPS points, and Chen-style == proposed SCF (F1 = 1.0) at all tested SNRs. These approximations do not reproduce the paper's reported gaps and are structural context only.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13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QUALITATIVE VALIDATION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Real vase test path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project now supports a real image path with optional mask. Without the paper's original vase and exact baselines, vase metrics are proxy evidence.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66750" y="2433489"/>
            <a:ext cx="5219700" cy="1019473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66750" y="4152900"/>
            <a:ext cx="52197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real_vase_paper: generated panel</a:t>
            </a:r>
          </a:p>
        </p:txBody>
      </p:sp>
      <p:pic>
        <p:nvPicPr>
          <p:cNvPr id="9" name="image" descr="vase_proposed_scf_gradient_distanc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97675" y="1924050"/>
            <a:ext cx="1930450" cy="226695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6819900" y="42672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proposed SCF contour</a:t>
            </a:r>
          </a:p>
        </p:txBody>
      </p:sp>
      <p:pic>
        <p:nvPicPr>
          <p:cNvPr id="11" name="image" descr="vase_chen_style_gradient_only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9369400" y="1924050"/>
            <a:ext cx="1930450" cy="226695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9353550" y="4267200"/>
            <a:ext cx="196215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Chen-style approximation</a:t>
            </a:r>
          </a:p>
        </p:txBody>
      </p:sp>
      <p:sp>
        <p:nvSpPr>
          <p:cNvPr id="13" name="rect"/>
          <p:cNvSpPr/>
          <p:nvPr/>
        </p:nvSpPr>
        <p:spPr>
          <a:xfrm>
            <a:off x="914400" y="4819650"/>
            <a:ext cx="253365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990600" y="4886325"/>
            <a:ext cx="23812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Input source</a:t>
            </a:r>
          </a:p>
        </p:txBody>
      </p:sp>
      <p:sp>
        <p:nvSpPr>
          <p:cNvPr id="15" name="rect"/>
          <p:cNvSpPr/>
          <p:nvPr/>
        </p:nvSpPr>
        <p:spPr>
          <a:xfrm>
            <a:off x="3448050" y="4819650"/>
            <a:ext cx="2432304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3524250" y="4886325"/>
            <a:ext cx="22799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Mask source</a:t>
            </a:r>
          </a:p>
        </p:txBody>
      </p:sp>
      <p:sp>
        <p:nvSpPr>
          <p:cNvPr id="17" name="rect"/>
          <p:cNvSpPr/>
          <p:nvPr/>
        </p:nvSpPr>
        <p:spPr>
          <a:xfrm>
            <a:off x="5880354" y="4819650"/>
            <a:ext cx="1621536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5956554" y="4886325"/>
            <a:ext cx="14691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Paper-mode F1</a:t>
            </a:r>
          </a:p>
        </p:txBody>
      </p:sp>
      <p:sp>
        <p:nvSpPr>
          <p:cNvPr id="19" name="rect"/>
          <p:cNvSpPr/>
          <p:nvPr/>
        </p:nvSpPr>
        <p:spPr>
          <a:xfrm>
            <a:off x="7501890" y="4819650"/>
            <a:ext cx="354711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578090" y="4886325"/>
            <a:ext cx="339471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Quantitative status</a:t>
            </a:r>
          </a:p>
        </p:txBody>
      </p:sp>
      <p:sp>
        <p:nvSpPr>
          <p:cNvPr id="21" name="rect"/>
          <p:cNvSpPr/>
          <p:nvPr/>
        </p:nvSpPr>
        <p:spPr>
          <a:xfrm>
            <a:off x="914400" y="5162550"/>
            <a:ext cx="253365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990600" y="5219700"/>
            <a:ext cx="23812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data\vase.png</a:t>
            </a:r>
          </a:p>
        </p:txBody>
      </p:sp>
      <p:sp>
        <p:nvSpPr>
          <p:cNvPr id="23" name="rect"/>
          <p:cNvSpPr/>
          <p:nvPr/>
        </p:nvSpPr>
        <p:spPr>
          <a:xfrm>
            <a:off x="3448050" y="5162550"/>
            <a:ext cx="2432304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3524250" y="5219700"/>
            <a:ext cx="2279904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otsu_estimated_mask</a:t>
            </a:r>
          </a:p>
        </p:txBody>
      </p:sp>
      <p:sp>
        <p:nvSpPr>
          <p:cNvPr id="25" name="rect"/>
          <p:cNvSpPr/>
          <p:nvPr/>
        </p:nvSpPr>
        <p:spPr>
          <a:xfrm>
            <a:off x="5880354" y="5162550"/>
            <a:ext cx="1621536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5956554" y="5219700"/>
            <a:ext cx="1469136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7" name="rect"/>
          <p:cNvSpPr/>
          <p:nvPr/>
        </p:nvSpPr>
        <p:spPr>
          <a:xfrm>
            <a:off x="7501890" y="5162550"/>
            <a:ext cx="354711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7578090" y="5219700"/>
            <a:ext cx="3394710" cy="4762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proxy_metrics_from_estimated_or_generated_mask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14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Final findings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The most important result is a reproducibility story with measured assumptions, not a single leaderboard number.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7239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723900" y="1809750"/>
            <a:ext cx="66675" cy="1466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953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1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953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IEPS + greedy SCF reproduces the expected behavior on synthetic circles, including noisy cases: 32/32 IEPS points and F1 near 1.0 in the current run.</a:t>
            </a:r>
          </a:p>
        </p:txBody>
      </p:sp>
      <p:sp>
        <p:nvSpPr>
          <p:cNvPr id="11" name="rect"/>
          <p:cNvSpPr/>
          <p:nvPr/>
        </p:nvSpPr>
        <p:spPr>
          <a:xfrm>
            <a:off x="447675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476750" y="1809750"/>
            <a:ext cx="66675" cy="14668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64820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2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4820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Concave U-shapes are the stress test. Paper-mode IEPS reaches 25/32 points and about 59% F1 on the noisy U-shape.</a:t>
            </a:r>
          </a:p>
        </p:txBody>
      </p:sp>
      <p:sp>
        <p:nvSpPr>
          <p:cNvPr id="15" name="rect"/>
          <p:cNvSpPr/>
          <p:nvPr/>
        </p:nvSpPr>
        <p:spPr>
          <a:xfrm>
            <a:off x="8229600" y="1809750"/>
            <a:ext cx="32575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229600" y="1809750"/>
            <a:ext cx="66675" cy="14668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401050" y="1962150"/>
            <a:ext cx="299085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700" b="1" dirty="0">
                <a:solidFill>
                  <a:srgbClr val="111827"/>
                </a:solidFill>
                <a:latin typeface="Aptos"/>
                <a:cs typeface="Aptos"/>
              </a:rPr>
              <a:t>Finding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401050" y="2286000"/>
            <a:ext cx="2952750" cy="895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400" dirty="0">
                <a:solidFill>
                  <a:srgbClr val="5B6472"/>
                </a:solidFill>
                <a:latin typeface="Aptos"/>
                <a:cs typeface="Aptos"/>
              </a:rPr>
              <a:t>The missing implementation details are a research contribution because they explain why exact reproduction is fragile.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76300" y="4057650"/>
            <a:ext cx="30480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300" b="1" dirty="0">
                <a:solidFill>
                  <a:srgbClr val="111827"/>
                </a:solidFill>
                <a:latin typeface="Aptos"/>
                <a:cs typeface="Aptos"/>
              </a:rPr>
              <a:t>Best final answer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76300" y="4457700"/>
            <a:ext cx="100965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2000" b="1" dirty="0">
                <a:solidFill>
                  <a:srgbClr val="111827"/>
                </a:solidFill>
                <a:latin typeface="Aptos"/>
                <a:cs typeface="Aptos"/>
              </a:rPr>
              <a:t>The authors gave a useful geometric method, but the paper is under-specified at the level required for executable reproduction. This project makes those assumptions explicit, validates them on author-style data, and shows a traditional-CV improvement for the U-shape failure mode.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76300" y="5524500"/>
            <a:ext cx="10096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Future work: recover exact original images, implement full Kass and Chen baselines, run tolerance sweeps, and test more non-star-convex shapes.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429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SOURCES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90550"/>
            <a:ext cx="8572500" cy="742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IEEE-style references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181100"/>
            <a:ext cx="981075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5B6472"/>
                </a:solidFill>
                <a:latin typeface="Aptos"/>
                <a:cs typeface="Aptos"/>
              </a:rPr>
              <a:t>Primary paper and baseline methods cited in the project report.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668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text"/>
          <p:cNvSpPr txBox="1"/>
          <p:nvPr/>
        </p:nvSpPr>
        <p:spPr>
          <a:xfrm>
            <a:off x="742950" y="1809750"/>
            <a:ext cx="10382250" cy="30289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Int. Conf. Control, Automation, Robotics and Vision (ICARCV), 2010.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[4] B. D. Chen and P. Siy, "Forward/backward contour tracing with feedback," IEEE Transactions on Pattern Analysis and Machine Intelligence, vol. 9, no. 3, pp. 438-446, 1987.</a:t>
            </a:r>
          </a:p>
          <a:p>
            <a:pPr algn="l"/>
            <a:r>
              <a:rPr lang="en-US" sz="1500" dirty="0">
                <a:solidFill>
                  <a:srgbClr val="111827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8" name="rect"/>
          <p:cNvSpPr/>
          <p:nvPr/>
        </p:nvSpPr>
        <p:spPr>
          <a:xfrm>
            <a:off x="1047750" y="5048250"/>
            <a:ext cx="3048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1123950" y="5114925"/>
            <a:ext cx="2895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Project evidence</a:t>
            </a:r>
          </a:p>
        </p:txBody>
      </p:sp>
      <p:sp>
        <p:nvSpPr>
          <p:cNvPr id="10" name="rect"/>
          <p:cNvSpPr/>
          <p:nvPr/>
        </p:nvSpPr>
        <p:spPr>
          <a:xfrm>
            <a:off x="4095750" y="5048250"/>
            <a:ext cx="6477000" cy="3429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4171950" y="5114925"/>
            <a:ext cx="6324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Location</a:t>
            </a:r>
          </a:p>
        </p:txBody>
      </p:sp>
      <p:sp>
        <p:nvSpPr>
          <p:cNvPr id="12" name="rect"/>
          <p:cNvSpPr/>
          <p:nvPr/>
        </p:nvSpPr>
        <p:spPr>
          <a:xfrm>
            <a:off x="1047750" y="5391150"/>
            <a:ext cx="3048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1123950" y="544830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Source implementation</a:t>
            </a:r>
          </a:p>
        </p:txBody>
      </p:sp>
      <p:sp>
        <p:nvSpPr>
          <p:cNvPr id="14" name="rect"/>
          <p:cNvSpPr/>
          <p:nvPr/>
        </p:nvSpPr>
        <p:spPr>
          <a:xfrm>
            <a:off x="4095750" y="5391150"/>
            <a:ext cx="6477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171950" y="544830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src/ieps.py, src/scf.py, src/ieps_improved.py, main.py</a:t>
            </a:r>
          </a:p>
        </p:txBody>
      </p:sp>
      <p:sp>
        <p:nvSpPr>
          <p:cNvPr id="16" name="rect"/>
          <p:cNvSpPr/>
          <p:nvPr/>
        </p:nvSpPr>
        <p:spPr>
          <a:xfrm>
            <a:off x="1047750" y="5715000"/>
            <a:ext cx="3048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1123950" y="5772150"/>
            <a:ext cx="2895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Results used in slides</a:t>
            </a:r>
          </a:p>
        </p:txBody>
      </p:sp>
      <p:sp>
        <p:nvSpPr>
          <p:cNvPr id="18" name="rect"/>
          <p:cNvSpPr/>
          <p:nvPr/>
        </p:nvSpPr>
        <p:spPr>
          <a:xfrm>
            <a:off x="4095750" y="5715000"/>
            <a:ext cx="6477000" cy="32385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4171950" y="5772150"/>
            <a:ext cx="6324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results/tables/*.csv and results/*/*.png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6438900"/>
            <a:ext cx="4000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| 16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239000" y="6438900"/>
            <a:ext cx="43434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Generated from project source, CSV tables, and result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16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IEPS + SCF Final Presentation</dc:title>
  <dc:creator>Codex</dc:creator>
  <cp:lastModifiedBy>Codex</cp:lastModifiedBy>
  <dcterms:created xsi:type="dcterms:W3CDTF">2026-07-04T11:40:29Z</dcterms:created>
  <dcterms:modified xsi:type="dcterms:W3CDTF">2026-07-04T11:40:29Z</dcterms:modified>
</cp:coreProperties>
</file>