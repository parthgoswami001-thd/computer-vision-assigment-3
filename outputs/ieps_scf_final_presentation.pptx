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/Relationships>
</file>

<file path=ppt/slides/_rels/slide6.xml.rels><?xml version="1.0" encoding="UTF-8" standalone="yes"?>
<Relationships xmlns="http://schemas.openxmlformats.org/package/2006/relationships"></Relationships>
</file>

<file path=ppt/slides/_rels/slide7.xml.rels><?xml version="1.0" encoding="UTF-8" standalone="yes"?>
<Relationships xmlns="http://schemas.openxmlformats.org/package/2006/relationships"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419100"/>
            <a:ext cx="109728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COMPUTER VISION - ASSIGNMENT 3  |  DEGGENDORF INSTITUTE OF TECHNOLOGY  |  SUMMER 2026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800100"/>
            <a:ext cx="10287000" cy="952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Reimplementation and Validation of IEPS + SCF</a:t>
            </a:r>
          </a:p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for 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866900"/>
            <a:ext cx="8572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7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2381250"/>
            <a:ext cx="6667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2381250"/>
            <a:ext cx="57150" cy="9144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2514600"/>
            <a:ext cx="6381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Assigned paper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2800350"/>
            <a:ext cx="6362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R. C. Hsu, P.-W. Kao, W.-J. Lai, and C.-T. Liu, "An initial edge point selection and segmental contour following for object contour extraction," Proc. IEEE ICARCV, 2010.</a:t>
            </a:r>
          </a:p>
        </p:txBody>
      </p:sp>
      <p:sp>
        <p:nvSpPr>
          <p:cNvPr id="10" name="rect"/>
          <p:cNvSpPr/>
          <p:nvPr/>
        </p:nvSpPr>
        <p:spPr>
          <a:xfrm>
            <a:off x="7581900" y="2381250"/>
            <a:ext cx="4000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7581900" y="2381250"/>
            <a:ext cx="57150" cy="9144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753350" y="2514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Presenter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7753350" y="2800350"/>
            <a:ext cx="3695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Parth Goswami</a:t>
            </a:r>
          </a:p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7-minute presentation  |  Python + NumPy + OpenCV</a:t>
            </a:r>
          </a:p>
        </p:txBody>
      </p:sp>
      <p:pic>
        <p:nvPicPr>
          <p:cNvPr id="14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3810000"/>
            <a:ext cx="10972800" cy="182880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609600" y="5829300"/>
            <a:ext cx="109728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Generated by this implementation: input, Sobel gradient, center of gravity, IEPS points, SCF contour, ground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THE AUTHORS' PROBLEM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Closed object contours without manual initialization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Contour extraction must be automatic, accurate, and cheap enough for industrial inspection on low-level processors.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160020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Edge detectors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Gradient operators such as Sobel find strong edges efficiently, but a closed contour is not guaranteed - edges stay fragmented.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95450"/>
            <a:ext cx="57150" cy="16002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Active contours (Snake)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Kass-style snakes produce closed contours, but the initial snaxels must be placed manually near the object, and the optimization is computationally heavy.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95450"/>
            <a:ext cx="57150" cy="16002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Automatic initialization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Yuen's fixed-angle scan lines select initial points automatically, but lack flexibility on concave or polygonal shapes and are easily disturbed by noise.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3714750"/>
            <a:ext cx="10972800" cy="87630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857250" y="3905250"/>
            <a:ext cx="104775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600" b="1" dirty="0">
                <a:solidFill>
                  <a:srgbClr val="FFFFFF"/>
                </a:solidFill>
                <a:latin typeface="Aptos"/>
                <a:cs typeface="Aptos"/>
              </a:rPr>
              <a:t>Goal of Hsu et al.: select initial edge points automatically (IEPS), then trace the contour segment by segment (SCF) using gradient + a gravity-like pull toward the next point - a closed contour at low computational cost.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48387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Evaluation in the paper: man-made circle and U-shape images (clean + white Gaussian noise, down to SNR 20.3 dB) with known true edges, plus a real vase image.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02 / 10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- Initial Edge Point Selection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Radiating scan lines from the center of gravity, then iterative midpoint refinement; every equation below is implemented in src/ieps.py and src/geometry.py.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Center of gravity - Eq. (1)-(2)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m_ij = SUM_x SUM_y  x^i y^j f(x,y)      G = ( m10 / m00 ,  m01 / m00 )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Initial scan lines - Eq. (3)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 = 4 rays with equal angle 2*pi/N from G. Along each ray, keep the pixel farthest from G whose 3x3 Sobel gradient exceeds T = 64; otherwise drop.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Iterative refinement - Eq. (5)-(6)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 M_i of neighbors (S_i, S_i+1) seeds a new scan line normal to S_i S_i+1 (slope m1 = -1/m2). One new point is inserted between every pair.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Shrinking search + point budget - Eq. (7), (4)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Scan distance halves every iteration: d = D / 2^(p-1).  Total points N_total = N * 2^p = 4 * 2^3 = 32.</a:t>
            </a:r>
          </a:p>
        </p:txBody>
      </p:sp>
      <p:pic>
        <p:nvPicPr>
          <p:cNvPr id="23" name="image" descr="initial_scan_line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 from the CoG + first points</a:t>
            </a:r>
          </a:p>
        </p:txBody>
      </p:sp>
      <p:pic>
        <p:nvPicPr>
          <p:cNvPr id="25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32 IEPS points after 3 iterations</a:t>
            </a:r>
          </a:p>
        </p:txBody>
      </p:sp>
      <p:pic>
        <p:nvPicPr>
          <p:cNvPr id="27" name="image" descr="ieps_points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524750" y="4114800"/>
            <a:ext cx="1905000" cy="1905000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7524750" y="60769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Noisy circle: 32/32 on true edge</a:t>
            </a:r>
          </a:p>
        </p:txBody>
      </p:sp>
      <p:sp>
        <p:nvSpPr>
          <p:cNvPr id="29" name="rect"/>
          <p:cNvSpPr/>
          <p:nvPr/>
        </p:nvSpPr>
        <p:spPr>
          <a:xfrm>
            <a:off x="9620250" y="4114800"/>
            <a:ext cx="1905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rect"/>
          <p:cNvSpPr/>
          <p:nvPr/>
        </p:nvSpPr>
        <p:spPr>
          <a:xfrm>
            <a:off x="9620250" y="4114800"/>
            <a:ext cx="57150" cy="19050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91700" y="4248150"/>
            <a:ext cx="1619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791700" y="4533900"/>
            <a:ext cx="16002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Good initial points are the whole game: SCF only connects neighbors, so IEPS quality bounds the final contour.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03 / 10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- Segmental Contour Following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Between every neighboring IEPS pair, a 3-candidate operating mask walks pixel by pixel, pulled by a gravity-like force toward the target point.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Related direction - Eq. (8), Table I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Dx = x_i+1 - x_i,  Dy = y_i+1 - y_i.  The sign pair (Dx, Dy) selects one of 9 states: E, SE, S, SW, W, NW, N, NE, or linked.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Operating mask - Fig. 4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Each state maps to a mask with three candidate pixels A, B, C around the current point, oriented toward the target.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Force of gravity - Eq. (9)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F(p) = grad_f(x,y) / sqrt(dx^2 + dy^2).  Gradient magnitude acts as mass; distance to the target supplies the attraction.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Closure - Fig. 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The candidate with the largest F(p) becomes the next contour point and the new origin; segments repeat until the contour is closed.</a:t>
            </a:r>
          </a:p>
        </p:txBody>
      </p:sp>
      <p:pic>
        <p:nvPicPr>
          <p:cNvPr id="23" name="image" descr="scf_contour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U-shape</a:t>
            </a:r>
          </a:p>
        </p:txBody>
      </p:sp>
      <p:pic>
        <p:nvPicPr>
          <p:cNvPr id="25" name="image" descr="scf_contou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circle</a:t>
            </a:r>
          </a:p>
        </p:txBody>
      </p:sp>
      <p:sp>
        <p:nvSpPr>
          <p:cNvPr id="27" name="rect"/>
          <p:cNvSpPr/>
          <p:nvPr/>
        </p:nvSpPr>
        <p:spPr>
          <a:xfrm>
            <a:off x="7524750" y="4114800"/>
            <a:ext cx="40005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7524750" y="4114800"/>
            <a:ext cx="57150" cy="1905000"/>
          </a:xfrm>
          <a:prstGeom prst="rect">
            <a:avLst/>
          </a:prstGeom>
          <a:solidFill>
            <a:srgbClr val="15803D"/>
          </a:solidFill>
          <a:ln w="9525">
            <a:solidFill>
              <a:srgbClr val="15803D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7696200" y="424815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Paper's claims to validate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696200" y="4533900"/>
            <a:ext cx="36957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IEPS beats Yuen's fixed-angle initialization (Table II); SCF beats Chen's gradient-only tracing (96-98% vs ~80% true-positive ratio, Table IV); whole pipeline runs in tens of milliseconds (Table V).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04 / 10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A reproducibility study of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Agreed with the professor: validate the authors' own method instead of drifting into a broad Canny / preprocessing comparison.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1097280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38300"/>
            <a:ext cx="57150" cy="704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71650"/>
            <a:ext cx="106108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Research question: Can IEPS + SCF be reimplemented from the paper description alone and validated on author-style circle and U-shape images, including noisy cases, while identifying the missing implementation details needed to reproduce the behavior?</a:t>
            </a:r>
          </a:p>
        </p:txBody>
      </p:sp>
      <p:sp>
        <p:nvSpPr>
          <p:cNvPr id="10" name="rect"/>
          <p:cNvSpPr/>
          <p:nvPr/>
        </p:nvSpPr>
        <p:spPr>
          <a:xfrm>
            <a:off x="609600" y="2609850"/>
            <a:ext cx="307238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685800" y="2667000"/>
            <a:ext cx="29199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Under-specified in the paper</a:t>
            </a:r>
          </a:p>
        </p:txBody>
      </p:sp>
      <p:sp>
        <p:nvSpPr>
          <p:cNvPr id="12" name="rect"/>
          <p:cNvSpPr/>
          <p:nvPr/>
        </p:nvSpPr>
        <p:spPr>
          <a:xfrm>
            <a:off x="3681984" y="2609850"/>
            <a:ext cx="373075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758184" y="2667000"/>
            <a:ext cx="357835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Why it changes the result</a:t>
            </a:r>
          </a:p>
        </p:txBody>
      </p:sp>
      <p:sp>
        <p:nvSpPr>
          <p:cNvPr id="14" name="rect"/>
          <p:cNvSpPr/>
          <p:nvPr/>
        </p:nvSpPr>
        <p:spPr>
          <a:xfrm>
            <a:off x="7412736" y="2609850"/>
            <a:ext cx="41696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7488936" y="2667000"/>
            <a:ext cx="40172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Rule fixed in this implementation</a:t>
            </a:r>
          </a:p>
        </p:txBody>
      </p:sp>
      <p:sp>
        <p:nvSpPr>
          <p:cNvPr id="16" name="rect"/>
          <p:cNvSpPr/>
          <p:nvPr/>
        </p:nvSpPr>
        <p:spPr>
          <a:xfrm>
            <a:off x="609600" y="2914650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85800" y="2962275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'Closed contour?' stop rule</a:t>
            </a:r>
          </a:p>
        </p:txBody>
      </p:sp>
      <p:sp>
        <p:nvSpPr>
          <p:cNvPr id="18" name="rect"/>
          <p:cNvSpPr/>
          <p:nvPr/>
        </p:nvSpPr>
        <p:spPr>
          <a:xfrm>
            <a:off x="3681984" y="2914650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3758184" y="2962275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 flow-chart diamond is not code</a:t>
            </a:r>
          </a:p>
        </p:txBody>
      </p:sp>
      <p:sp>
        <p:nvSpPr>
          <p:cNvPr id="20" name="rect"/>
          <p:cNvSpPr/>
          <p:nvPr/>
        </p:nvSpPr>
        <p:spPr>
          <a:xfrm>
            <a:off x="7412736" y="2914650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7488936" y="2962275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stop when distance to target &lt;= 2 px</a:t>
            </a:r>
          </a:p>
        </p:txBody>
      </p:sp>
      <p:sp>
        <p:nvSpPr>
          <p:cNvPr id="22" name="rect"/>
          <p:cNvSpPr/>
          <p:nvPr/>
        </p:nvSpPr>
        <p:spPr>
          <a:xfrm>
            <a:off x="609600" y="3279321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685800" y="3326946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Candidate tie-breaking</a:t>
            </a:r>
          </a:p>
        </p:txBody>
      </p:sp>
      <p:sp>
        <p:nvSpPr>
          <p:cNvPr id="24" name="rect"/>
          <p:cNvSpPr/>
          <p:nvPr/>
        </p:nvSpPr>
        <p:spPr>
          <a:xfrm>
            <a:off x="3681984" y="3279321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3758184" y="3326946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several pixels score alike on flat edges</a:t>
            </a:r>
          </a:p>
        </p:txBody>
      </p:sp>
      <p:sp>
        <p:nvSpPr>
          <p:cNvPr id="26" name="rect"/>
          <p:cNvSpPr/>
          <p:nvPr/>
        </p:nvSpPr>
        <p:spPr>
          <a:xfrm>
            <a:off x="7412736" y="3279321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7488936" y="3326946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score, then gradient, then target distance</a:t>
            </a:r>
          </a:p>
        </p:txBody>
      </p:sp>
      <p:sp>
        <p:nvSpPr>
          <p:cNvPr id="28" name="rect"/>
          <p:cNvSpPr/>
          <p:nvPr/>
        </p:nvSpPr>
        <p:spPr>
          <a:xfrm>
            <a:off x="609600" y="3643993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685800" y="3691618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30" name="rect"/>
          <p:cNvSpPr/>
          <p:nvPr/>
        </p:nvSpPr>
        <p:spPr>
          <a:xfrm>
            <a:off x="3681984" y="3643993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3758184" y="3691618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greedy tracing can revisit pixels</a:t>
            </a:r>
          </a:p>
        </p:txBody>
      </p:sp>
      <p:sp>
        <p:nvSpPr>
          <p:cNvPr id="32" name="rect"/>
          <p:cNvSpPr/>
          <p:nvPr/>
        </p:nvSpPr>
        <p:spPr>
          <a:xfrm>
            <a:off x="7412736" y="3643993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7488936" y="3691618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 set per segment + max 3x distance steps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4008664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4056289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Weak-gradient candidates</a:t>
            </a:r>
          </a:p>
        </p:txBody>
      </p:sp>
      <p:sp>
        <p:nvSpPr>
          <p:cNvPr id="36" name="rect"/>
          <p:cNvSpPr/>
          <p:nvPr/>
        </p:nvSpPr>
        <p:spPr>
          <a:xfrm>
            <a:off x="3681984" y="4008664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758184" y="4056289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noise breaks edges; mask can go blind</a:t>
            </a:r>
          </a:p>
        </p:txBody>
      </p:sp>
      <p:sp>
        <p:nvSpPr>
          <p:cNvPr id="38" name="rect"/>
          <p:cNvSpPr/>
          <p:nvPr/>
        </p:nvSpPr>
        <p:spPr>
          <a:xfrm>
            <a:off x="7412736" y="4008664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7488936" y="4056289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fall back to the candidate closest to the target</a:t>
            </a:r>
          </a:p>
        </p:txBody>
      </p:sp>
      <p:sp>
        <p:nvSpPr>
          <p:cNvPr id="40" name="rect"/>
          <p:cNvSpPr/>
          <p:nvPr/>
        </p:nvSpPr>
        <p:spPr>
          <a:xfrm>
            <a:off x="609600" y="4373336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685800" y="4420961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42" name="rect"/>
          <p:cNvSpPr/>
          <p:nvPr/>
        </p:nvSpPr>
        <p:spPr>
          <a:xfrm>
            <a:off x="3681984" y="4373336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3758184" y="4420961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which pixels lie on a ray / normal line</a:t>
            </a:r>
          </a:p>
        </p:txBody>
      </p:sp>
      <p:sp>
        <p:nvSpPr>
          <p:cNvPr id="44" name="rect"/>
          <p:cNvSpPr/>
          <p:nvPr/>
        </p:nvSpPr>
        <p:spPr>
          <a:xfrm>
            <a:off x="7412736" y="4373336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7488936" y="4420961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integer sampling; public points stay (x, y)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4738007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4785632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Missing edge on a scan line</a:t>
            </a:r>
          </a:p>
        </p:txBody>
      </p:sp>
      <p:sp>
        <p:nvSpPr>
          <p:cNvPr id="48" name="rect"/>
          <p:cNvSpPr/>
          <p:nvPr/>
        </p:nvSpPr>
        <p:spPr>
          <a:xfrm>
            <a:off x="3681984" y="4738007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3758184" y="4785632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can fail on a whole line</a:t>
            </a:r>
          </a:p>
        </p:txBody>
      </p:sp>
      <p:sp>
        <p:nvSpPr>
          <p:cNvPr id="50" name="rect"/>
          <p:cNvSpPr/>
          <p:nvPr/>
        </p:nvSpPr>
        <p:spPr>
          <a:xfrm>
            <a:off x="7412736" y="4738007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1" name="text"/>
          <p:cNvSpPr txBox="1"/>
          <p:nvPr/>
        </p:nvSpPr>
        <p:spPr>
          <a:xfrm>
            <a:off x="7488936" y="4785632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fallback instead of silent drop</a:t>
            </a:r>
          </a:p>
        </p:txBody>
      </p:sp>
      <p:sp>
        <p:nvSpPr>
          <p:cNvPr id="52" name="rect"/>
          <p:cNvSpPr/>
          <p:nvPr/>
        </p:nvSpPr>
        <p:spPr>
          <a:xfrm>
            <a:off x="609600" y="5102679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685800" y="5150304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54" name="rect"/>
          <p:cNvSpPr/>
          <p:nvPr/>
        </p:nvSpPr>
        <p:spPr>
          <a:xfrm>
            <a:off x="3681984" y="5102679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text"/>
          <p:cNvSpPr txBox="1"/>
          <p:nvPr/>
        </p:nvSpPr>
        <p:spPr>
          <a:xfrm>
            <a:off x="3758184" y="5150304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 reports ratios without a radius</a:t>
            </a:r>
          </a:p>
        </p:txBody>
      </p:sp>
      <p:sp>
        <p:nvSpPr>
          <p:cNvPr id="56" name="rect"/>
          <p:cNvSpPr/>
          <p:nvPr/>
        </p:nvSpPr>
        <p:spPr>
          <a:xfrm>
            <a:off x="7412736" y="5102679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7488936" y="5150304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 px tolerance, distance-transform based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Contribution: every rule above is made explicit, implemented, and then measured - the extension is a parameter study inside IEPS + SCF, not an external method.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05 / 10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Implementation and 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Hand-coded IEPS, SCF, geometry, and metrics in Python/NumPy; OpenCV only for Sobel, the secondary Canny baseline, and image I/O.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0485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Synthetic images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0485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circle + U-shape, clean and sigma=20 noise, fixed seeds</a:t>
            </a:r>
          </a:p>
        </p:txBody>
      </p:sp>
      <p:sp>
        <p:nvSpPr>
          <p:cNvPr id="10" name="arrow"/>
          <p:cNvSpPr/>
          <p:nvPr/>
        </p:nvSpPr>
        <p:spPr>
          <a:xfrm>
            <a:off x="271081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3464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292989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292989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3x3 magnitude, normalized 0..255</a:t>
            </a:r>
          </a:p>
        </p:txBody>
      </p:sp>
      <p:sp>
        <p:nvSpPr>
          <p:cNvPr id="14" name="arrow"/>
          <p:cNvSpPr/>
          <p:nvPr/>
        </p:nvSpPr>
        <p:spPr>
          <a:xfrm>
            <a:off x="493585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5968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15493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CoG + 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15493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rays, 3 iterations, T=64, 32 points</a:t>
            </a:r>
          </a:p>
        </p:txBody>
      </p:sp>
      <p:sp>
        <p:nvSpPr>
          <p:cNvPr id="18" name="arrow"/>
          <p:cNvSpPr/>
          <p:nvPr/>
        </p:nvSpPr>
        <p:spPr>
          <a:xfrm>
            <a:off x="716089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8472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37997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37997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mask + gravity score per segment</a:t>
            </a:r>
          </a:p>
        </p:txBody>
      </p:sp>
      <p:sp>
        <p:nvSpPr>
          <p:cNvPr id="22" name="arrow"/>
          <p:cNvSpPr/>
          <p:nvPr/>
        </p:nvSpPr>
        <p:spPr>
          <a:xfrm>
            <a:off x="938593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50976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501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501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accuracy, precision/recall/F1, runtime</a:t>
            </a:r>
          </a:p>
        </p:txBody>
      </p:sp>
      <p:sp>
        <p:nvSpPr>
          <p:cNvPr id="26" name="rect"/>
          <p:cNvSpPr/>
          <p:nvPr/>
        </p:nvSpPr>
        <p:spPr>
          <a:xfrm>
            <a:off x="609600" y="3143250"/>
            <a:ext cx="19716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685800" y="3200400"/>
            <a:ext cx="18192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Design decision</a:t>
            </a:r>
          </a:p>
        </p:txBody>
      </p:sp>
      <p:sp>
        <p:nvSpPr>
          <p:cNvPr id="28" name="rect"/>
          <p:cNvSpPr/>
          <p:nvPr/>
        </p:nvSpPr>
        <p:spPr>
          <a:xfrm>
            <a:off x="2581275" y="3143250"/>
            <a:ext cx="46005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657475" y="3200400"/>
            <a:ext cx="44481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Choice used (and measured)</a:t>
            </a:r>
          </a:p>
        </p:txBody>
      </p:sp>
      <p:sp>
        <p:nvSpPr>
          <p:cNvPr id="30" name="rect"/>
          <p:cNvSpPr/>
          <p:nvPr/>
        </p:nvSpPr>
        <p:spPr>
          <a:xfrm>
            <a:off x="609600" y="344805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685800" y="349567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Gravity score</a:t>
            </a:r>
          </a:p>
        </p:txBody>
      </p:sp>
      <p:sp>
        <p:nvSpPr>
          <p:cNvPr id="32" name="rect"/>
          <p:cNvSpPr/>
          <p:nvPr/>
        </p:nvSpPr>
        <p:spPr>
          <a:xfrm>
            <a:off x="2581275" y="344805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657475" y="349567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 / (d^2 + 1): bounded at d = 0; gradient-only vs gradient/distance compared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385191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389953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Point ordering</a:t>
            </a:r>
          </a:p>
        </p:txBody>
      </p:sp>
      <p:sp>
        <p:nvSpPr>
          <p:cNvPr id="36" name="rect"/>
          <p:cNvSpPr/>
          <p:nvPr/>
        </p:nvSpPr>
        <p:spPr>
          <a:xfrm>
            <a:off x="2581275" y="385191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657475" y="389953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topological insertion order (angle sort chords across the notch)</a:t>
            </a:r>
          </a:p>
        </p:txBody>
      </p:sp>
      <p:sp>
        <p:nvSpPr>
          <p:cNvPr id="38" name="rect"/>
          <p:cNvSpPr/>
          <p:nvPr/>
        </p:nvSpPr>
        <p:spPr>
          <a:xfrm>
            <a:off x="609600" y="425577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685800" y="430339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 rule</a:t>
            </a:r>
          </a:p>
        </p:txBody>
      </p:sp>
      <p:sp>
        <p:nvSpPr>
          <p:cNvPr id="40" name="rect"/>
          <p:cNvSpPr/>
          <p:nvPr/>
        </p:nvSpPr>
        <p:spPr>
          <a:xfrm>
            <a:off x="2581275" y="425577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657475" y="430339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farthest-from-center, consistent with the initial rays</a:t>
            </a:r>
          </a:p>
        </p:txBody>
      </p:sp>
      <p:sp>
        <p:nvSpPr>
          <p:cNvPr id="42" name="rect"/>
          <p:cNvSpPr/>
          <p:nvPr/>
        </p:nvSpPr>
        <p:spPr>
          <a:xfrm>
            <a:off x="609600" y="465963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685800" y="470725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 of gravity</a:t>
            </a:r>
          </a:p>
        </p:txBody>
      </p:sp>
      <p:sp>
        <p:nvSpPr>
          <p:cNvPr id="44" name="rect"/>
          <p:cNvSpPr/>
          <p:nvPr/>
        </p:nvSpPr>
        <p:spPr>
          <a:xfrm>
            <a:off x="2581275" y="465963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657475" y="470725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moments; raw moments biased by non-zero background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506349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511111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Closure</a:t>
            </a:r>
          </a:p>
        </p:txBody>
      </p:sp>
      <p:sp>
        <p:nvSpPr>
          <p:cNvPr id="48" name="rect"/>
          <p:cNvSpPr/>
          <p:nvPr/>
        </p:nvSpPr>
        <p:spPr>
          <a:xfrm>
            <a:off x="2581275" y="506349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2657475" y="511111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every neighboring pair, including last -&gt; first</a:t>
            </a:r>
          </a:p>
        </p:txBody>
      </p:sp>
      <p:sp>
        <p:nvSpPr>
          <p:cNvPr id="50" name="rect"/>
          <p:cNvSpPr/>
          <p:nvPr/>
        </p:nvSpPr>
        <p:spPr>
          <a:xfrm>
            <a:off x="7524750" y="3143250"/>
            <a:ext cx="4000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1" name="rect"/>
          <p:cNvSpPr/>
          <p:nvPr/>
        </p:nvSpPr>
        <p:spPr>
          <a:xfrm>
            <a:off x="7524750" y="3143250"/>
            <a:ext cx="57150" cy="11049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696200" y="3276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Metrics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7696200" y="3562350"/>
            <a:ext cx="3695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accuracy (points within 2 px of true contour), neighbor spacing mean/std, tolerance-based precision / recall / F1, and IEPS + SCF runtime per case.</a:t>
            </a:r>
          </a:p>
        </p:txBody>
      </p:sp>
      <p:sp>
        <p:nvSpPr>
          <p:cNvPr id="54" name="rect"/>
          <p:cNvSpPr/>
          <p:nvPr/>
        </p:nvSpPr>
        <p:spPr>
          <a:xfrm>
            <a:off x="7524750" y="4400550"/>
            <a:ext cx="4000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rect"/>
          <p:cNvSpPr/>
          <p:nvPr/>
        </p:nvSpPr>
        <p:spPr>
          <a:xfrm>
            <a:off x="7524750" y="4400550"/>
            <a:ext cx="57150" cy="10668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7696200" y="45339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Parameter study (extension)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7696200" y="4819650"/>
            <a:ext cx="36957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40/64/90; 4 vs 8 rays; 2 vs 3 iterations; stop tolerance 1-3 px; score formula; point order; refinement rule; three noise levels.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Everything is regenerated by one command (python main.py --run all); slides and report read the same CSV tables.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06 / 10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core: rays, then midpoint-normal refinement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src/ieps.py - the loop structure mirrors the paper's equations directly.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1) Initial rays: farthest strong-gradient pixel on each of N = 4 scan lines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range(initial_scan_lines):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angle = 2.0 * math.pi * i / initial_scan_lines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ray = sample_ray_from_center(center, angle, image.shape)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candidates = [p for p in ray if gradient[p[1], p[0]] &gt;= threshold]   # Eq. (3)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if candidates: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points.append(max(candidates, key=lambda p: distance(p, center)))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2) Refinement: insert one new point between every neighboring pair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iteration in range(1, iterations + 1):                    # p = 1 ..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radius = max(3.0, default_scan_distance / 2.0 ** iteration)   # Eq. (7)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next_points = []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for idx in range(len(points)):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p1, p2 = points[idx], points[(idx + 1) % len(points)]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mid = midpoint(p1, p2)                                    # Eq. (5)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normal = normal_vector(p1, p2)                            # Eq. (6)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scan = sample_line_through_point(mid, normal, image.shape, radius)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selected = select_edge_candidate(scan, gradient, threshold, fallback)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next_points.append(p1)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if selected is not None: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    next_points.append(selected)    # new point stays between its parents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points = unique_preserve_order(next_points)      # N * 2**p  -&gt;  32 points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Insertion order is preserved (topological): a refined point remains between the pair that created it, which keeps SCF segments short and local.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07 / 10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core: masked greedy tracing with a gravity score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src/scf.py - every rule the paper leaves open is an explicit line of code here.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def trace_segment_greedy(gradient, start, target, tol=2.0):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max_steps = max(5, math.ceil(3.0 * distance(start, target)))   # step guard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current, path, visited = start, [start], {start}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for _ in range(max_steps):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if distance(current, target) &lt;= tol:                # explicit stop rule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    break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cands = directional_candidates(current, target)     # 3-pixel mask, Fig. 4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cands = [p for p in cands if p not in visited] or cands    # no loops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if max(grad(p) for p in cands) &lt; 1.0:               # broken edge?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    best = min(cands, key=lambda p: distance(p, target))   # fallback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else: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    best = max(cands, key=lambda p: (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        grad(p) / (distance(p, target) ** 2 + 1.0),  # gravity ~ Eq. (9)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        grad(p),                                     # tie-break: gradient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        -distance(p, target)))                       # tie-break: distance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current = best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path.append(best)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    visited.add(best)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return path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closed contour: trace every neighboring pair, including last -&gt; first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range(len(points)):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19150" y="57340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    contour += trace_segment_greedy(grad, points[i], points[(i + 1) % len(points)])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With these rules fixed, all 32/32 segments reach their target on every main case - the 'closed contour?' diamond of the paper becomes a measurable property.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08 / 10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RESULTS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Circles reproduce perfectly; the U-shape stresses the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All values from results/tables/*.csv, regenerated by main.py; tolerance 2 px, fixed noise seeds.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219456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733550"/>
            <a:ext cx="2042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9" name="rect"/>
          <p:cNvSpPr/>
          <p:nvPr/>
        </p:nvSpPr>
        <p:spPr>
          <a:xfrm>
            <a:off x="2804160" y="1676400"/>
            <a:ext cx="109728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880360" y="1733550"/>
            <a:ext cx="9448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pts</a:t>
            </a:r>
          </a:p>
        </p:txBody>
      </p:sp>
      <p:sp>
        <p:nvSpPr>
          <p:cNvPr id="11" name="rect"/>
          <p:cNvSpPr/>
          <p:nvPr/>
        </p:nvSpPr>
        <p:spPr>
          <a:xfrm>
            <a:off x="3901440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77640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acc</a:t>
            </a:r>
          </a:p>
        </p:txBody>
      </p:sp>
      <p:sp>
        <p:nvSpPr>
          <p:cNvPr id="13" name="rect"/>
          <p:cNvSpPr/>
          <p:nvPr/>
        </p:nvSpPr>
        <p:spPr>
          <a:xfrm>
            <a:off x="5327904" y="1676400"/>
            <a:ext cx="153619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5404104" y="1733550"/>
            <a:ext cx="138379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Precision</a:t>
            </a:r>
          </a:p>
        </p:txBody>
      </p:sp>
      <p:sp>
        <p:nvSpPr>
          <p:cNvPr id="15" name="rect"/>
          <p:cNvSpPr/>
          <p:nvPr/>
        </p:nvSpPr>
        <p:spPr>
          <a:xfrm>
            <a:off x="6864096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940296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Recall</a:t>
            </a:r>
          </a:p>
        </p:txBody>
      </p:sp>
      <p:sp>
        <p:nvSpPr>
          <p:cNvPr id="17" name="rect"/>
          <p:cNvSpPr/>
          <p:nvPr/>
        </p:nvSpPr>
        <p:spPr>
          <a:xfrm>
            <a:off x="8290560" y="1676400"/>
            <a:ext cx="1316736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366760" y="1733550"/>
            <a:ext cx="11643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19" name="rect"/>
          <p:cNvSpPr/>
          <p:nvPr/>
        </p:nvSpPr>
        <p:spPr>
          <a:xfrm>
            <a:off x="9607296" y="1676400"/>
            <a:ext cx="197510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683496" y="1733550"/>
            <a:ext cx="182270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IEPS+SCF time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19812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685800" y="20288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circle_clean</a:t>
            </a:r>
          </a:p>
        </p:txBody>
      </p:sp>
      <p:sp>
        <p:nvSpPr>
          <p:cNvPr id="23" name="rect"/>
          <p:cNvSpPr/>
          <p:nvPr/>
        </p:nvSpPr>
        <p:spPr>
          <a:xfrm>
            <a:off x="2804160" y="19812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2880360" y="20288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25" name="rect"/>
          <p:cNvSpPr/>
          <p:nvPr/>
        </p:nvSpPr>
        <p:spPr>
          <a:xfrm>
            <a:off x="3901440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3977640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7" name="rect"/>
          <p:cNvSpPr/>
          <p:nvPr/>
        </p:nvSpPr>
        <p:spPr>
          <a:xfrm>
            <a:off x="5327904" y="19812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404104" y="20288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rect"/>
          <p:cNvSpPr/>
          <p:nvPr/>
        </p:nvSpPr>
        <p:spPr>
          <a:xfrm>
            <a:off x="6864096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6940296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1" name="rect"/>
          <p:cNvSpPr/>
          <p:nvPr/>
        </p:nvSpPr>
        <p:spPr>
          <a:xfrm>
            <a:off x="8290560" y="19812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366760" y="20288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rect"/>
          <p:cNvSpPr/>
          <p:nvPr/>
        </p:nvSpPr>
        <p:spPr>
          <a:xfrm>
            <a:off x="9607296" y="19812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9683496" y="20288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11.7 ms</a:t>
            </a:r>
          </a:p>
        </p:txBody>
      </p:sp>
      <p:sp>
        <p:nvSpPr>
          <p:cNvPr id="35" name="rect"/>
          <p:cNvSpPr/>
          <p:nvPr/>
        </p:nvSpPr>
        <p:spPr>
          <a:xfrm>
            <a:off x="609600" y="23241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85800" y="23717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7" name="rect"/>
          <p:cNvSpPr/>
          <p:nvPr/>
        </p:nvSpPr>
        <p:spPr>
          <a:xfrm>
            <a:off x="2804160" y="23241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2880360" y="23717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39" name="rect"/>
          <p:cNvSpPr/>
          <p:nvPr/>
        </p:nvSpPr>
        <p:spPr>
          <a:xfrm>
            <a:off x="3901440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977640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5327904" y="23241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404104" y="23717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6864096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940296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5" name="rect"/>
          <p:cNvSpPr/>
          <p:nvPr/>
        </p:nvSpPr>
        <p:spPr>
          <a:xfrm>
            <a:off x="8290560" y="23241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8366760" y="23717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7" name="rect"/>
          <p:cNvSpPr/>
          <p:nvPr/>
        </p:nvSpPr>
        <p:spPr>
          <a:xfrm>
            <a:off x="9607296" y="23241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9683496" y="23717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14.4 ms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26670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27146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51" name="rect"/>
          <p:cNvSpPr/>
          <p:nvPr/>
        </p:nvSpPr>
        <p:spPr>
          <a:xfrm>
            <a:off x="2804160" y="26670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2880360" y="27146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53" name="rect"/>
          <p:cNvSpPr/>
          <p:nvPr/>
        </p:nvSpPr>
        <p:spPr>
          <a:xfrm>
            <a:off x="3901440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977640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327904" y="26670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404104" y="27146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92.8%</a:t>
            </a:r>
          </a:p>
        </p:txBody>
      </p:sp>
      <p:sp>
        <p:nvSpPr>
          <p:cNvPr id="57" name="rect"/>
          <p:cNvSpPr/>
          <p:nvPr/>
        </p:nvSpPr>
        <p:spPr>
          <a:xfrm>
            <a:off x="6864096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40296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95.4%</a:t>
            </a:r>
          </a:p>
        </p:txBody>
      </p:sp>
      <p:sp>
        <p:nvSpPr>
          <p:cNvPr id="59" name="rect"/>
          <p:cNvSpPr/>
          <p:nvPr/>
        </p:nvSpPr>
        <p:spPr>
          <a:xfrm>
            <a:off x="8290560" y="26670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8366760" y="27146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61" name="rect"/>
          <p:cNvSpPr/>
          <p:nvPr/>
        </p:nvSpPr>
        <p:spPr>
          <a:xfrm>
            <a:off x="9607296" y="26670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9683496" y="27146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9.8 ms</a:t>
            </a:r>
          </a:p>
        </p:txBody>
      </p:sp>
      <p:sp>
        <p:nvSpPr>
          <p:cNvPr id="63" name="rect"/>
          <p:cNvSpPr/>
          <p:nvPr/>
        </p:nvSpPr>
        <p:spPr>
          <a:xfrm>
            <a:off x="609600" y="30099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685800" y="30575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5" name="rect"/>
          <p:cNvSpPr/>
          <p:nvPr/>
        </p:nvSpPr>
        <p:spPr>
          <a:xfrm>
            <a:off x="2804160" y="30099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2880360" y="30575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67" name="rect"/>
          <p:cNvSpPr/>
          <p:nvPr/>
        </p:nvSpPr>
        <p:spPr>
          <a:xfrm>
            <a:off x="3901440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3977640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9" name="rect"/>
          <p:cNvSpPr/>
          <p:nvPr/>
        </p:nvSpPr>
        <p:spPr>
          <a:xfrm>
            <a:off x="5327904" y="30099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5404104" y="30575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93.3%</a:t>
            </a:r>
          </a:p>
        </p:txBody>
      </p:sp>
      <p:sp>
        <p:nvSpPr>
          <p:cNvPr id="71" name="rect"/>
          <p:cNvSpPr/>
          <p:nvPr/>
        </p:nvSpPr>
        <p:spPr>
          <a:xfrm>
            <a:off x="6864096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2" name="text"/>
          <p:cNvSpPr txBox="1"/>
          <p:nvPr/>
        </p:nvSpPr>
        <p:spPr>
          <a:xfrm>
            <a:off x="6940296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96.4%</a:t>
            </a:r>
          </a:p>
        </p:txBody>
      </p:sp>
      <p:sp>
        <p:nvSpPr>
          <p:cNvPr id="73" name="rect"/>
          <p:cNvSpPr/>
          <p:nvPr/>
        </p:nvSpPr>
        <p:spPr>
          <a:xfrm>
            <a:off x="8290560" y="30099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8366760" y="30575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75" name="rect"/>
          <p:cNvSpPr/>
          <p:nvPr/>
        </p:nvSpPr>
        <p:spPr>
          <a:xfrm>
            <a:off x="9607296" y="30099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6" name="text"/>
          <p:cNvSpPr txBox="1"/>
          <p:nvPr/>
        </p:nvSpPr>
        <p:spPr>
          <a:xfrm>
            <a:off x="9683496" y="30575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9.7 ms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609600" y="3657600"/>
            <a:ext cx="590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Noisy U-shape F1 under implementation choices</a:t>
            </a:r>
          </a:p>
        </p:txBody>
      </p:sp>
      <p:sp>
        <p:nvSpPr>
          <p:cNvPr id="78" name="text"/>
          <p:cNvSpPr txBox="1"/>
          <p:nvPr/>
        </p:nvSpPr>
        <p:spPr>
          <a:xfrm>
            <a:off x="609600" y="39433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defaults</a:t>
            </a:r>
          </a:p>
        </p:txBody>
      </p:sp>
      <p:sp>
        <p:nvSpPr>
          <p:cNvPr id="79" name="rect"/>
          <p:cNvSpPr/>
          <p:nvPr/>
        </p:nvSpPr>
        <p:spPr>
          <a:xfrm>
            <a:off x="2609850" y="39814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0" name="rect"/>
          <p:cNvSpPr/>
          <p:nvPr/>
        </p:nvSpPr>
        <p:spPr>
          <a:xfrm>
            <a:off x="2609850" y="3981450"/>
            <a:ext cx="3106872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1" name="text"/>
          <p:cNvSpPr txBox="1"/>
          <p:nvPr/>
        </p:nvSpPr>
        <p:spPr>
          <a:xfrm>
            <a:off x="5943600" y="39433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82" name="text"/>
          <p:cNvSpPr txBox="1"/>
          <p:nvPr/>
        </p:nvSpPr>
        <p:spPr>
          <a:xfrm>
            <a:off x="609600" y="42894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2 iterations</a:t>
            </a:r>
          </a:p>
        </p:txBody>
      </p:sp>
      <p:sp>
        <p:nvSpPr>
          <p:cNvPr id="83" name="rect"/>
          <p:cNvSpPr/>
          <p:nvPr/>
        </p:nvSpPr>
        <p:spPr>
          <a:xfrm>
            <a:off x="2609850" y="43275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4" name="rect"/>
          <p:cNvSpPr/>
          <p:nvPr/>
        </p:nvSpPr>
        <p:spPr>
          <a:xfrm>
            <a:off x="2609850" y="4327525"/>
            <a:ext cx="2694021" cy="174625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85" name="text"/>
          <p:cNvSpPr txBox="1"/>
          <p:nvPr/>
        </p:nvSpPr>
        <p:spPr>
          <a:xfrm>
            <a:off x="5943600" y="42894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82.2%</a:t>
            </a:r>
          </a:p>
        </p:txBody>
      </p:sp>
      <p:sp>
        <p:nvSpPr>
          <p:cNvPr id="86" name="text"/>
          <p:cNvSpPr txBox="1"/>
          <p:nvPr/>
        </p:nvSpPr>
        <p:spPr>
          <a:xfrm>
            <a:off x="609600" y="463550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 scan lines</a:t>
            </a:r>
          </a:p>
        </p:txBody>
      </p:sp>
      <p:sp>
        <p:nvSpPr>
          <p:cNvPr id="87" name="rect"/>
          <p:cNvSpPr/>
          <p:nvPr/>
        </p:nvSpPr>
        <p:spPr>
          <a:xfrm>
            <a:off x="2609850" y="467360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8" name="rect"/>
          <p:cNvSpPr/>
          <p:nvPr/>
        </p:nvSpPr>
        <p:spPr>
          <a:xfrm>
            <a:off x="2609850" y="4673600"/>
            <a:ext cx="3167489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9" name="text"/>
          <p:cNvSpPr txBox="1"/>
          <p:nvPr/>
        </p:nvSpPr>
        <p:spPr>
          <a:xfrm>
            <a:off x="5943600" y="463550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96.7%</a:t>
            </a:r>
          </a:p>
        </p:txBody>
      </p:sp>
      <p:sp>
        <p:nvSpPr>
          <p:cNvPr id="90" name="text"/>
          <p:cNvSpPr txBox="1"/>
          <p:nvPr/>
        </p:nvSpPr>
        <p:spPr>
          <a:xfrm>
            <a:off x="609600" y="498157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angle ordering</a:t>
            </a:r>
          </a:p>
        </p:txBody>
      </p:sp>
      <p:sp>
        <p:nvSpPr>
          <p:cNvPr id="91" name="rect"/>
          <p:cNvSpPr/>
          <p:nvPr/>
        </p:nvSpPr>
        <p:spPr>
          <a:xfrm>
            <a:off x="2609850" y="501967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2" name="rect"/>
          <p:cNvSpPr/>
          <p:nvPr/>
        </p:nvSpPr>
        <p:spPr>
          <a:xfrm>
            <a:off x="2609850" y="5019675"/>
            <a:ext cx="3187476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3" name="text"/>
          <p:cNvSpPr txBox="1"/>
          <p:nvPr/>
        </p:nvSpPr>
        <p:spPr>
          <a:xfrm>
            <a:off x="5943600" y="498157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97.3%</a:t>
            </a:r>
          </a:p>
        </p:txBody>
      </p:sp>
      <p:sp>
        <p:nvSpPr>
          <p:cNvPr id="94" name="text"/>
          <p:cNvSpPr txBox="1"/>
          <p:nvPr/>
        </p:nvSpPr>
        <p:spPr>
          <a:xfrm>
            <a:off x="609600" y="53276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 SCF (ext.)</a:t>
            </a:r>
          </a:p>
        </p:txBody>
      </p:sp>
      <p:sp>
        <p:nvSpPr>
          <p:cNvPr id="95" name="rect"/>
          <p:cNvSpPr/>
          <p:nvPr/>
        </p:nvSpPr>
        <p:spPr>
          <a:xfrm>
            <a:off x="2609850" y="53657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6" name="rect"/>
          <p:cNvSpPr/>
          <p:nvPr/>
        </p:nvSpPr>
        <p:spPr>
          <a:xfrm>
            <a:off x="2609850" y="5365750"/>
            <a:ext cx="3246455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7" name="text"/>
          <p:cNvSpPr txBox="1"/>
          <p:nvPr/>
        </p:nvSpPr>
        <p:spPr>
          <a:xfrm>
            <a:off x="5943600" y="53276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99.1%</a:t>
            </a:r>
          </a:p>
        </p:txBody>
      </p:sp>
      <p:sp>
        <p:nvSpPr>
          <p:cNvPr id="98" name="text"/>
          <p:cNvSpPr txBox="1"/>
          <p:nvPr/>
        </p:nvSpPr>
        <p:spPr>
          <a:xfrm>
            <a:off x="609600" y="56737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improved IEPS (ext.)</a:t>
            </a:r>
          </a:p>
        </p:txBody>
      </p:sp>
      <p:sp>
        <p:nvSpPr>
          <p:cNvPr id="99" name="rect"/>
          <p:cNvSpPr/>
          <p:nvPr/>
        </p:nvSpPr>
        <p:spPr>
          <a:xfrm>
            <a:off x="2609850" y="57118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0" name="rect"/>
          <p:cNvSpPr/>
          <p:nvPr/>
        </p:nvSpPr>
        <p:spPr>
          <a:xfrm>
            <a:off x="2609850" y="5711825"/>
            <a:ext cx="3272340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01" name="text"/>
          <p:cNvSpPr txBox="1"/>
          <p:nvPr/>
        </p:nvSpPr>
        <p:spPr>
          <a:xfrm>
            <a:off x="5943600" y="56737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99.9%</a:t>
            </a:r>
          </a:p>
        </p:txBody>
      </p:sp>
      <p:sp>
        <p:nvSpPr>
          <p:cNvPr id="102" name="rect"/>
          <p:cNvSpPr/>
          <p:nvPr/>
        </p:nvSpPr>
        <p:spPr>
          <a:xfrm>
            <a:off x="6819900" y="3657600"/>
            <a:ext cx="4762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3" name="rect"/>
          <p:cNvSpPr/>
          <p:nvPr/>
        </p:nvSpPr>
        <p:spPr>
          <a:xfrm>
            <a:off x="6819900" y="3657600"/>
            <a:ext cx="57150" cy="11049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104" name="text"/>
          <p:cNvSpPr txBox="1"/>
          <p:nvPr/>
        </p:nvSpPr>
        <p:spPr>
          <a:xfrm>
            <a:off x="6991350" y="37909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Sensitivity finding</a:t>
            </a:r>
          </a:p>
        </p:txBody>
      </p:sp>
      <p:sp>
        <p:nvSpPr>
          <p:cNvPr id="105" name="text"/>
          <p:cNvSpPr txBox="1"/>
          <p:nvPr/>
        </p:nvSpPr>
        <p:spPr>
          <a:xfrm>
            <a:off x="6991350" y="4076700"/>
            <a:ext cx="4457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 and stop tolerance 1-3 px shift F1 by &lt; 0.3 pts - robust. Iteration count dominates: 2 instead of 3 iterations drops F1 by ~13 pts. Point count and placement matter more than tuning.</a:t>
            </a:r>
          </a:p>
        </p:txBody>
      </p:sp>
      <p:sp>
        <p:nvSpPr>
          <p:cNvPr id="106" name="rect"/>
          <p:cNvSpPr/>
          <p:nvPr/>
        </p:nvSpPr>
        <p:spPr>
          <a:xfrm>
            <a:off x="6819900" y="4876800"/>
            <a:ext cx="47625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7" name="rect"/>
          <p:cNvSpPr/>
          <p:nvPr/>
        </p:nvSpPr>
        <p:spPr>
          <a:xfrm>
            <a:off x="6819900" y="4876800"/>
            <a:ext cx="57150" cy="10477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08" name="text"/>
          <p:cNvSpPr txBox="1"/>
          <p:nvPr/>
        </p:nvSpPr>
        <p:spPr>
          <a:xfrm>
            <a:off x="6991350" y="50101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Real vase + honesty notes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6991350" y="5295900"/>
            <a:ext cx="4457700" cy="5143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Real vase (Otsu proxy mask): paper-mode F1 93.8% in 14.8 ms. Yuen/Snake/Chen comparisons are labeled approximations; on these synthetic shapes they tie or nearly tie (Chen = proposed SCF at every SNR), so they are context, not evidence of the paper's reported gaps.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Extensions stay inside the authors' method: graph-search SCF 99.1% (81.9 ms) and interior-seed improved IEPS 99.9% on the noisy U-shape.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09 / 10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The method reproduces - once the missing rules are written down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The reproducibility audit is the contribution: assumptions were made explicit, implemented, and measured.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76400"/>
            <a:ext cx="57150" cy="1504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1 - Reproduced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Full IEPS + SCF pipeline from the paper description: circles reach F1 100%, the noisy U-shape 94.8% with 32/32 initial points on the true edge and ~10 ms runtime.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76400"/>
            <a:ext cx="57150" cy="15049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2 - Under-specified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 hinges on rules the paper omits: SCF stopping, tie-breaking, loop prevention, fallbacks, tolerances. Each was fixed explicitly and its effect quantified in the parameter study.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76400"/>
            <a:ext cx="57150" cy="15049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3 - Extension inside the method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An interior distance-transform seed with denser coverage lifts the noisy U-shape to 99.9% while preserving circles - scoped to synthetic concave shapes (it does not transfer to the vase proxy).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34861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References (IEEE style)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3771900"/>
            <a:ext cx="10972800" cy="1809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IEEE Int. Conf. Control, Automation, Robotics and Vision (ICARCV), 2010, pp. 1632-1637.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[4] B. D. Chen and P. Siy, "Forward/backward contour tracing with feedback," IEEE Trans. Pattern Analysis and Machine Intelligence, vol. 9, no. 3, pp. 438-446, 1987.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5676900"/>
            <a:ext cx="109728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00100" y="5810250"/>
            <a:ext cx="105918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Evidence: src/ieps.py, src/scf.py, src/geometry.py, main.py  |  results/tables/*.csv  |  docs/RESEARCH_REPORT.md - all regenerable with python main.py --run all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10 / 10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IEPS SCF Builder</Application>
  <PresentationFormat>On-screen Show (16:9)</PresentationFormat>
  <Slides>10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Reimplementation and Validation of IEPS + SCF</dc:title>
  <dc:creator>Parth Goswami</dc:creator>
  <cp:lastModifiedBy>Parth Goswami</cp:lastModifiedBy>
  <dcterms:created xsi:type="dcterms:W3CDTF">2026-07-04T14:13:07Z</dcterms:created>
  <dcterms:modified xsi:type="dcterms:W3CDTF">2026-07-04T14:13:07Z</dcterms:modified>
</cp:coreProperties>
</file>