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/Relationships>
</file>

<file path=ppt/slides/_rels/slide6.xml.rels><?xml version="1.0" encoding="UTF-8" standalone="yes"?>
<Relationships xmlns="http://schemas.openxmlformats.org/package/2006/relationships"></Relationships>
</file>

<file path=ppt/slides/_rels/slide7.xml.rels><?xml version="1.0" encoding="UTF-8" standalone="yes"?>
<Relationships xmlns="http://schemas.openxmlformats.org/package/2006/relationships"></Relationships>
</file>

<file path=ppt/slides/_rels/slide8.xml.rels><?xml version="1.0" encoding="UTF-8" standalone="yes"?>
<Relationships xmlns="http://schemas.openxmlformats.org/package/2006/relationships"></Relationships>
</file>

<file path=ppt/slides/_rels/slide9.xml.rels><?xml version="1.0" encoding="UTF-8" standalone="yes"?>
<Relationships xmlns="http://schemas.openxmlformats.org/package/2006/relationships"></Relationships>
</file>

<file path=ppt/slides/_rels/slide10.xml.rels><?xml version="1.0" encoding="UTF-8" standalone="yes"?>
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 w="9525">
            <a:solidFill>
              <a:srgbClr val="F7F7F2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609600" y="419100"/>
            <a:ext cx="109728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1" dirty="0">
                <a:solidFill>
                  <a:srgbClr val="0F766E"/>
                </a:solidFill>
                <a:latin typeface="Aptos"/>
                <a:cs typeface="Aptos"/>
              </a:rPr>
              <a:t>COMPUTER VISION - ASSIGNMENT 3  |  DEGGENDORF INSTITUTE OF TECHNOLOGY  |  SUMMER 2026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09600" y="800100"/>
            <a:ext cx="10287000" cy="952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3400" b="1" dirty="0">
                <a:solidFill>
                  <a:srgbClr val="111827"/>
                </a:solidFill>
                <a:latin typeface="Aptos"/>
                <a:cs typeface="Aptos"/>
              </a:rPr>
              <a:t>Reimplementation and Validation of IEPS + SCF</a:t>
            </a:r>
          </a:p>
          <a:p>
            <a:pPr algn="l"/>
            <a:r>
              <a:rPr lang="en-US" sz="3400" b="1" dirty="0">
                <a:solidFill>
                  <a:srgbClr val="111827"/>
                </a:solidFill>
                <a:latin typeface="Aptos"/>
                <a:cs typeface="Aptos"/>
              </a:rPr>
              <a:t>for Object Contour Extraction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09600" y="1866900"/>
            <a:ext cx="8572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dirty="0">
                <a:solidFill>
                  <a:srgbClr val="5B6472"/>
                </a:solidFill>
                <a:latin typeface="Aptos"/>
                <a:cs typeface="Aptos"/>
              </a:rPr>
              <a:t>A Traditional Computer Vision Reproducibility Study</a:t>
            </a:r>
          </a:p>
        </p:txBody>
      </p:sp>
      <p:sp>
        <p:nvSpPr>
          <p:cNvPr id="6" name="rect"/>
          <p:cNvSpPr/>
          <p:nvPr/>
        </p:nvSpPr>
        <p:spPr>
          <a:xfrm>
            <a:off x="609600" y="2381250"/>
            <a:ext cx="6667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7" name="rect"/>
          <p:cNvSpPr/>
          <p:nvPr/>
        </p:nvSpPr>
        <p:spPr>
          <a:xfrm>
            <a:off x="609600" y="2381250"/>
            <a:ext cx="57150" cy="9144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</p:sp>
      <p:sp>
        <p:nvSpPr>
          <p:cNvPr id="8" name="text"/>
          <p:cNvSpPr txBox="1"/>
          <p:nvPr/>
        </p:nvSpPr>
        <p:spPr>
          <a:xfrm>
            <a:off x="781050" y="2514600"/>
            <a:ext cx="63817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1" dirty="0">
                <a:solidFill>
                  <a:srgbClr val="111827"/>
                </a:solidFill>
                <a:latin typeface="Aptos"/>
                <a:cs typeface="Aptos"/>
              </a:rPr>
              <a:t>Assigned paper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781050" y="2800350"/>
            <a:ext cx="63627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5B6472"/>
                </a:solidFill>
                <a:latin typeface="Aptos"/>
                <a:cs typeface="Aptos"/>
              </a:rPr>
              <a:t>R. C. Hsu, P.-W. Kao, W.-J. Lai, and C.-T. Liu, "An initial edge point selection and segmental contour following for object contour extraction," Proc. IEEE ICARCV, 2010.</a:t>
            </a:r>
          </a:p>
        </p:txBody>
      </p:sp>
      <p:sp>
        <p:nvSpPr>
          <p:cNvPr id="10" name="rect"/>
          <p:cNvSpPr/>
          <p:nvPr/>
        </p:nvSpPr>
        <p:spPr>
          <a:xfrm>
            <a:off x="7581900" y="2381250"/>
            <a:ext cx="4000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11" name="rect"/>
          <p:cNvSpPr/>
          <p:nvPr/>
        </p:nvSpPr>
        <p:spPr>
          <a:xfrm>
            <a:off x="7581900" y="2381250"/>
            <a:ext cx="57150" cy="914400"/>
          </a:xfrm>
          <a:prstGeom prst="rect">
            <a:avLst/>
          </a:prstGeom>
          <a:solidFill>
            <a:srgbClr val="1D4ED8"/>
          </a:solidFill>
          <a:ln w="9525">
            <a:solidFill>
              <a:srgbClr val="1D4ED8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7753350" y="2514600"/>
            <a:ext cx="37147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1" dirty="0">
                <a:solidFill>
                  <a:srgbClr val="111827"/>
                </a:solidFill>
                <a:latin typeface="Aptos"/>
                <a:cs typeface="Aptos"/>
              </a:rPr>
              <a:t>Presenter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7753350" y="2800350"/>
            <a:ext cx="36957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5B6472"/>
                </a:solidFill>
                <a:latin typeface="Aptos"/>
                <a:cs typeface="Aptos"/>
              </a:rPr>
              <a:t>Parth Goswami</a:t>
            </a:r>
          </a:p>
          <a:p>
            <a:pPr algn="l"/>
            <a:r>
              <a:rPr lang="en-US" sz="1300" dirty="0">
                <a:solidFill>
                  <a:srgbClr val="5B6472"/>
                </a:solidFill>
                <a:latin typeface="Aptos"/>
                <a:cs typeface="Aptos"/>
              </a:rPr>
              <a:t>7-minute presentation  |  Python + NumPy + OpenCV</a:t>
            </a:r>
          </a:p>
        </p:txBody>
      </p:sp>
      <p:pic>
        <p:nvPicPr>
          <p:cNvPr id="14" name="image" descr="panel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609600" y="3810000"/>
            <a:ext cx="10972800" cy="1828800"/>
          </a:xfrm>
          <a:prstGeom prst="rect">
            <a:avLst/>
          </a:prstGeom>
        </p:spPr>
      </p:pic>
      <p:sp>
        <p:nvSpPr>
          <p:cNvPr id="15" name="text"/>
          <p:cNvSpPr txBox="1"/>
          <p:nvPr/>
        </p:nvSpPr>
        <p:spPr>
          <a:xfrm>
            <a:off x="609600" y="5829300"/>
            <a:ext cx="109728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100" dirty="0">
                <a:solidFill>
                  <a:srgbClr val="5B6472"/>
                </a:solidFill>
                <a:latin typeface="Aptos"/>
                <a:cs typeface="Aptos"/>
              </a:rPr>
              <a:t>Generated by this implementation: input, Sobel gradient, center of gravity, IEPS points, SCF contour, ground truth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 w="9525">
            <a:solidFill>
              <a:srgbClr val="F7F7F2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609600" y="3238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1" dirty="0">
                <a:solidFill>
                  <a:srgbClr val="0F766E"/>
                </a:solidFill>
                <a:latin typeface="Aptos"/>
                <a:cs typeface="Aptos"/>
              </a:rPr>
              <a:t>THE AUTHORS' PROBLEM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09600" y="552450"/>
            <a:ext cx="109728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900" b="1" dirty="0">
                <a:solidFill>
                  <a:srgbClr val="111827"/>
                </a:solidFill>
                <a:latin typeface="Aptos"/>
                <a:cs typeface="Aptos"/>
              </a:rPr>
              <a:t>Closed object contours without manual initialization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09600" y="9906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5B6472"/>
                </a:solidFill>
                <a:latin typeface="Aptos"/>
                <a:cs typeface="Aptos"/>
              </a:rPr>
              <a:t>Contour extraction must be automatic, accurate, and cheap enough for industrial inspection on low-level processors.</a:t>
            </a:r>
          </a:p>
        </p:txBody>
      </p:sp>
      <p:sp>
        <p:nvSpPr>
          <p:cNvPr id="6" name="rect"/>
          <p:cNvSpPr/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7D7CC"/>
          </a:solidFill>
          <a:ln w="9525">
            <a:solidFill>
              <a:srgbClr val="D7D7CC"/>
            </a:solidFill>
          </a:ln>
        </p:spPr>
      </p:sp>
      <p:sp>
        <p:nvSpPr>
          <p:cNvPr id="7" name="rect"/>
          <p:cNvSpPr/>
          <p:nvPr/>
        </p:nvSpPr>
        <p:spPr>
          <a:xfrm>
            <a:off x="609600" y="1695450"/>
            <a:ext cx="3505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8" name="rect"/>
          <p:cNvSpPr/>
          <p:nvPr/>
        </p:nvSpPr>
        <p:spPr>
          <a:xfrm>
            <a:off x="609600" y="1695450"/>
            <a:ext cx="57150" cy="1600200"/>
          </a:xfrm>
          <a:prstGeom prst="rect">
            <a:avLst/>
          </a:prstGeom>
          <a:solidFill>
            <a:srgbClr val="B91C1C"/>
          </a:solidFill>
          <a:ln w="9525">
            <a:solidFill>
              <a:srgbClr val="B91C1C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781050" y="1828800"/>
            <a:ext cx="32194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1" dirty="0">
                <a:solidFill>
                  <a:srgbClr val="111827"/>
                </a:solidFill>
                <a:latin typeface="Aptos"/>
                <a:cs typeface="Aptos"/>
              </a:rPr>
              <a:t>Edge detectors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781050" y="2114550"/>
            <a:ext cx="3200400" cy="1066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5B6472"/>
                </a:solidFill>
                <a:latin typeface="Aptos"/>
                <a:cs typeface="Aptos"/>
              </a:rPr>
              <a:t>Gradient operators such as Sobel find strong edges efficiently, but a closed contour is not guaranteed - edges stay fragmented.</a:t>
            </a:r>
          </a:p>
        </p:txBody>
      </p:sp>
      <p:sp>
        <p:nvSpPr>
          <p:cNvPr id="11" name="rect"/>
          <p:cNvSpPr/>
          <p:nvPr/>
        </p:nvSpPr>
        <p:spPr>
          <a:xfrm>
            <a:off x="4343400" y="1695450"/>
            <a:ext cx="3505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12" name="rect"/>
          <p:cNvSpPr/>
          <p:nvPr/>
        </p:nvSpPr>
        <p:spPr>
          <a:xfrm>
            <a:off x="4343400" y="1695450"/>
            <a:ext cx="57150" cy="160020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4514850" y="1828800"/>
            <a:ext cx="32194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1" dirty="0">
                <a:solidFill>
                  <a:srgbClr val="111827"/>
                </a:solidFill>
                <a:latin typeface="Aptos"/>
                <a:cs typeface="Aptos"/>
              </a:rPr>
              <a:t>Active contours (Snake)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514850" y="2114550"/>
            <a:ext cx="3200400" cy="1066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5B6472"/>
                </a:solidFill>
                <a:latin typeface="Aptos"/>
                <a:cs typeface="Aptos"/>
              </a:rPr>
              <a:t>Kass-style snakes produce closed contours, but the initial snaxels must be placed manually near the object, and the optimization is computationally heavy.</a:t>
            </a:r>
          </a:p>
        </p:txBody>
      </p:sp>
      <p:sp>
        <p:nvSpPr>
          <p:cNvPr id="15" name="rect"/>
          <p:cNvSpPr/>
          <p:nvPr/>
        </p:nvSpPr>
        <p:spPr>
          <a:xfrm>
            <a:off x="8077200" y="1695450"/>
            <a:ext cx="3505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16" name="rect"/>
          <p:cNvSpPr/>
          <p:nvPr/>
        </p:nvSpPr>
        <p:spPr>
          <a:xfrm>
            <a:off x="8077200" y="1695450"/>
            <a:ext cx="57150" cy="1600200"/>
          </a:xfrm>
          <a:prstGeom prst="rect">
            <a:avLst/>
          </a:prstGeom>
          <a:solidFill>
            <a:srgbClr val="1D4ED8"/>
          </a:solidFill>
          <a:ln w="9525">
            <a:solidFill>
              <a:srgbClr val="1D4ED8"/>
            </a:solidFill>
          </a:ln>
        </p:spPr>
      </p:sp>
      <p:sp>
        <p:nvSpPr>
          <p:cNvPr id="17" name="text"/>
          <p:cNvSpPr txBox="1"/>
          <p:nvPr/>
        </p:nvSpPr>
        <p:spPr>
          <a:xfrm>
            <a:off x="8248650" y="1828800"/>
            <a:ext cx="32194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1" dirty="0">
                <a:solidFill>
                  <a:srgbClr val="111827"/>
                </a:solidFill>
                <a:latin typeface="Aptos"/>
                <a:cs typeface="Aptos"/>
              </a:rPr>
              <a:t>Automatic initialization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8248650" y="2114550"/>
            <a:ext cx="3200400" cy="1066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5B6472"/>
                </a:solidFill>
                <a:latin typeface="Aptos"/>
                <a:cs typeface="Aptos"/>
              </a:rPr>
              <a:t>Yuen's fixed-angle scan lines select initial points automatically, but lack flexibility on concave or polygonal shapes and are easily disturbed by noise.</a:t>
            </a:r>
          </a:p>
        </p:txBody>
      </p:sp>
      <p:sp>
        <p:nvSpPr>
          <p:cNvPr id="19" name="rect"/>
          <p:cNvSpPr/>
          <p:nvPr/>
        </p:nvSpPr>
        <p:spPr>
          <a:xfrm>
            <a:off x="609600" y="3714750"/>
            <a:ext cx="10972800" cy="87630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</a:ln>
        </p:spPr>
      </p:sp>
      <p:sp>
        <p:nvSpPr>
          <p:cNvPr id="20" name="text"/>
          <p:cNvSpPr txBox="1"/>
          <p:nvPr/>
        </p:nvSpPr>
        <p:spPr>
          <a:xfrm>
            <a:off x="857250" y="3905250"/>
            <a:ext cx="10477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Aptos"/>
                <a:cs typeface="Aptos"/>
              </a:rPr>
              <a:t>Goal of Hsu et al.: select initial edge points automatically (IEPS), then trace the contour segment by segment (SCF) using gradient + a gravity-like pull toward the next point - a closed contour at low computational cost.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609600" y="48387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5B6472"/>
                </a:solidFill>
                <a:latin typeface="Aptos"/>
                <a:cs typeface="Aptos"/>
              </a:rPr>
              <a:t>Evaluation in the paper: man-made circle and U-shape images (clean + white Gaussian noise, down to SNR 20.3 dB) with known true edges, plus a real vase image.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09600" y="6553200"/>
            <a:ext cx="5905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00" dirty="0">
                <a:solidFill>
                  <a:srgbClr val="727B85"/>
                </a:solidFill>
                <a:latin typeface="Aptos"/>
                <a:cs typeface="Aptos"/>
              </a:rPr>
              <a:t>IEPS + SCF reproducibility study  |  Parth Goswami  |  02 / 10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7239000" y="6553200"/>
            <a:ext cx="4343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dirty="0">
                <a:solidFill>
                  <a:srgbClr val="727B85"/>
                </a:solidFill>
                <a:latin typeface="Aptos"/>
                <a:cs typeface="Aptos"/>
              </a:rPr>
              <a:t>Hsu et al., ICARCV 2010 [1]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 w="9525">
            <a:solidFill>
              <a:srgbClr val="F7F7F2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609600" y="3238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1" dirty="0">
                <a:solidFill>
                  <a:srgbClr val="0F766E"/>
                </a:solidFill>
                <a:latin typeface="Aptos"/>
                <a:cs typeface="Aptos"/>
              </a:rPr>
              <a:t>PAPER SOLUTION 1/2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09600" y="552450"/>
            <a:ext cx="109728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900" b="1" dirty="0">
                <a:solidFill>
                  <a:srgbClr val="111827"/>
                </a:solidFill>
                <a:latin typeface="Aptos"/>
                <a:cs typeface="Aptos"/>
              </a:rPr>
              <a:t>IEPS - Initial Edge Point Selection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09600" y="9906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5B6472"/>
                </a:solidFill>
                <a:latin typeface="Aptos"/>
                <a:cs typeface="Aptos"/>
              </a:rPr>
              <a:t>Radiating scan lines from the center of gravity, then iterative midpoint refinement; every equation below is implemented in src/ieps.py and src/geometry.py.</a:t>
            </a:r>
          </a:p>
        </p:txBody>
      </p:sp>
      <p:sp>
        <p:nvSpPr>
          <p:cNvPr id="6" name="rect"/>
          <p:cNvSpPr/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7D7CC"/>
          </a:solidFill>
          <a:ln w="9525">
            <a:solidFill>
              <a:srgbClr val="D7D7CC"/>
            </a:solidFill>
          </a:ln>
        </p:spPr>
      </p:sp>
      <p:sp>
        <p:nvSpPr>
          <p:cNvPr id="7" name="rect"/>
          <p:cNvSpPr/>
          <p:nvPr/>
        </p:nvSpPr>
        <p:spPr>
          <a:xfrm>
            <a:off x="609600" y="1695450"/>
            <a:ext cx="6572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8" name="rect"/>
          <p:cNvSpPr/>
          <p:nvPr/>
        </p:nvSpPr>
        <p:spPr>
          <a:xfrm>
            <a:off x="609600" y="1695450"/>
            <a:ext cx="57150" cy="8763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800100" y="1790700"/>
            <a:ext cx="6248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00" b="1" dirty="0">
                <a:solidFill>
                  <a:srgbClr val="111827"/>
                </a:solidFill>
                <a:latin typeface="Aptos"/>
                <a:cs typeface="Aptos"/>
              </a:rPr>
              <a:t>Center of gravity - Eq. (1)-(2)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800100" y="2019300"/>
            <a:ext cx="62484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m_ij = SUM_x SUM_y  x^i y^j f(x,y)      G = ( m10 / m00 ,  m01 / m00 )</a:t>
            </a:r>
          </a:p>
        </p:txBody>
      </p:sp>
      <p:sp>
        <p:nvSpPr>
          <p:cNvPr id="11" name="rect"/>
          <p:cNvSpPr/>
          <p:nvPr/>
        </p:nvSpPr>
        <p:spPr>
          <a:xfrm>
            <a:off x="609600" y="2686050"/>
            <a:ext cx="6572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12" name="rect"/>
          <p:cNvSpPr/>
          <p:nvPr/>
        </p:nvSpPr>
        <p:spPr>
          <a:xfrm>
            <a:off x="609600" y="2686050"/>
            <a:ext cx="57150" cy="8763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800100" y="2781300"/>
            <a:ext cx="6248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00" b="1" dirty="0">
                <a:solidFill>
                  <a:srgbClr val="111827"/>
                </a:solidFill>
                <a:latin typeface="Aptos"/>
                <a:cs typeface="Aptos"/>
              </a:rPr>
              <a:t>Initial scan lines - Eq. (3)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800100" y="3009900"/>
            <a:ext cx="62484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N = 4 rays with equal angle 2*pi/N from G. Along each ray, keep the pixel farthest from G whose 3x3 Sobel gradient exceeds T = 64; otherwise drop.</a:t>
            </a:r>
          </a:p>
        </p:txBody>
      </p:sp>
      <p:sp>
        <p:nvSpPr>
          <p:cNvPr id="15" name="rect"/>
          <p:cNvSpPr/>
          <p:nvPr/>
        </p:nvSpPr>
        <p:spPr>
          <a:xfrm>
            <a:off x="609600" y="3676650"/>
            <a:ext cx="6572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16" name="rect"/>
          <p:cNvSpPr/>
          <p:nvPr/>
        </p:nvSpPr>
        <p:spPr>
          <a:xfrm>
            <a:off x="609600" y="3676650"/>
            <a:ext cx="57150" cy="8763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</p:sp>
      <p:sp>
        <p:nvSpPr>
          <p:cNvPr id="17" name="text"/>
          <p:cNvSpPr txBox="1"/>
          <p:nvPr/>
        </p:nvSpPr>
        <p:spPr>
          <a:xfrm>
            <a:off x="800100" y="3771900"/>
            <a:ext cx="6248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00" b="1" dirty="0">
                <a:solidFill>
                  <a:srgbClr val="111827"/>
                </a:solidFill>
                <a:latin typeface="Aptos"/>
                <a:cs typeface="Aptos"/>
              </a:rPr>
              <a:t>Iterative refinement - Eq. (5)-(6)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800100" y="4000500"/>
            <a:ext cx="62484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Midpoint M_i of neighbors (S_i, S_i+1) seeds a new scan line normal to S_i S_i+1 (slope m1 = -1/m2). One new point is inserted between every pair.</a:t>
            </a:r>
          </a:p>
        </p:txBody>
      </p:sp>
      <p:sp>
        <p:nvSpPr>
          <p:cNvPr id="19" name="rect"/>
          <p:cNvSpPr/>
          <p:nvPr/>
        </p:nvSpPr>
        <p:spPr>
          <a:xfrm>
            <a:off x="609600" y="4667250"/>
            <a:ext cx="6572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20" name="rect"/>
          <p:cNvSpPr/>
          <p:nvPr/>
        </p:nvSpPr>
        <p:spPr>
          <a:xfrm>
            <a:off x="609600" y="4667250"/>
            <a:ext cx="57150" cy="8763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</p:sp>
      <p:sp>
        <p:nvSpPr>
          <p:cNvPr id="21" name="text"/>
          <p:cNvSpPr txBox="1"/>
          <p:nvPr/>
        </p:nvSpPr>
        <p:spPr>
          <a:xfrm>
            <a:off x="800100" y="4762500"/>
            <a:ext cx="6248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00" b="1" dirty="0">
                <a:solidFill>
                  <a:srgbClr val="111827"/>
                </a:solidFill>
                <a:latin typeface="Aptos"/>
                <a:cs typeface="Aptos"/>
              </a:rPr>
              <a:t>Shrinking search + point budget - Eq. (7), (4)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800100" y="4991100"/>
            <a:ext cx="62484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Scan distance halves every iteration: d = D / 2^(p-1).  Total points N_total = N * 2^p = 4 * 2^3 = 32.</a:t>
            </a:r>
          </a:p>
        </p:txBody>
      </p:sp>
      <p:pic>
        <p:nvPicPr>
          <p:cNvPr id="23" name="image" descr="initial_scan_lines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7524750" y="1714500"/>
            <a:ext cx="1905000" cy="1905000"/>
          </a:xfrm>
          <a:prstGeom prst="rect">
            <a:avLst/>
          </a:prstGeom>
        </p:spPr>
      </p:pic>
      <p:sp>
        <p:nvSpPr>
          <p:cNvPr id="24" name="text"/>
          <p:cNvSpPr txBox="1"/>
          <p:nvPr/>
        </p:nvSpPr>
        <p:spPr>
          <a:xfrm>
            <a:off x="7524750" y="3676650"/>
            <a:ext cx="19050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100" dirty="0">
                <a:solidFill>
                  <a:srgbClr val="5B6472"/>
                </a:solidFill>
                <a:latin typeface="Aptos"/>
                <a:cs typeface="Aptos"/>
              </a:rPr>
              <a:t>4 rays from the CoG + first points</a:t>
            </a:r>
          </a:p>
        </p:txBody>
      </p:sp>
      <p:pic>
        <p:nvPicPr>
          <p:cNvPr id="25" name="image" descr="ieps_points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9620250" y="1714500"/>
            <a:ext cx="1905000" cy="1905000"/>
          </a:xfrm>
          <a:prstGeom prst="rect">
            <a:avLst/>
          </a:prstGeom>
        </p:spPr>
      </p:pic>
      <p:sp>
        <p:nvSpPr>
          <p:cNvPr id="26" name="text"/>
          <p:cNvSpPr txBox="1"/>
          <p:nvPr/>
        </p:nvSpPr>
        <p:spPr>
          <a:xfrm>
            <a:off x="9620250" y="3676650"/>
            <a:ext cx="19050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100" dirty="0">
                <a:solidFill>
                  <a:srgbClr val="5B6472"/>
                </a:solidFill>
                <a:latin typeface="Aptos"/>
                <a:cs typeface="Aptos"/>
              </a:rPr>
              <a:t>32 IEPS points after 3 iterations</a:t>
            </a:r>
          </a:p>
        </p:txBody>
      </p:sp>
      <p:pic>
        <p:nvPicPr>
          <p:cNvPr id="27" name="image" descr="ieps_points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7524750" y="4114800"/>
            <a:ext cx="1905000" cy="1905000"/>
          </a:xfrm>
          <a:prstGeom prst="rect">
            <a:avLst/>
          </a:prstGeom>
        </p:spPr>
      </p:pic>
      <p:sp>
        <p:nvSpPr>
          <p:cNvPr id="28" name="text"/>
          <p:cNvSpPr txBox="1"/>
          <p:nvPr/>
        </p:nvSpPr>
        <p:spPr>
          <a:xfrm>
            <a:off x="7524750" y="6076950"/>
            <a:ext cx="19050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100" dirty="0">
                <a:solidFill>
                  <a:srgbClr val="5B6472"/>
                </a:solidFill>
                <a:latin typeface="Aptos"/>
                <a:cs typeface="Aptos"/>
              </a:rPr>
              <a:t>Noisy circle: 32/32 on true edge</a:t>
            </a:r>
          </a:p>
        </p:txBody>
      </p:sp>
      <p:sp>
        <p:nvSpPr>
          <p:cNvPr id="29" name="rect"/>
          <p:cNvSpPr/>
          <p:nvPr/>
        </p:nvSpPr>
        <p:spPr>
          <a:xfrm>
            <a:off x="9620250" y="4114800"/>
            <a:ext cx="19050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30" name="rect"/>
          <p:cNvSpPr/>
          <p:nvPr/>
        </p:nvSpPr>
        <p:spPr>
          <a:xfrm>
            <a:off x="9620250" y="4114800"/>
            <a:ext cx="57150" cy="1905000"/>
          </a:xfrm>
          <a:prstGeom prst="rect">
            <a:avLst/>
          </a:prstGeom>
          <a:solidFill>
            <a:srgbClr val="C2410C"/>
          </a:solidFill>
          <a:ln w="9525">
            <a:solidFill>
              <a:srgbClr val="C2410C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9791700" y="4248150"/>
            <a:ext cx="1619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1" dirty="0">
                <a:solidFill>
                  <a:srgbClr val="111827"/>
                </a:solidFill>
                <a:latin typeface="Aptos"/>
                <a:cs typeface="Aptos"/>
              </a:rPr>
              <a:t>Why it matters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9791700" y="4533900"/>
            <a:ext cx="160020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Good initial points are the whole game: SCF only connects neighbors, so IEPS quality bounds the final contour.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609600" y="6553200"/>
            <a:ext cx="5905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00" dirty="0">
                <a:solidFill>
                  <a:srgbClr val="727B85"/>
                </a:solidFill>
                <a:latin typeface="Aptos"/>
                <a:cs typeface="Aptos"/>
              </a:rPr>
              <a:t>IEPS + SCF reproducibility study  |  Parth Goswami  |  03 / 10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7239000" y="6553200"/>
            <a:ext cx="4343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dirty="0">
                <a:solidFill>
                  <a:srgbClr val="727B85"/>
                </a:solidFill>
                <a:latin typeface="Aptos"/>
                <a:cs typeface="Aptos"/>
              </a:rPr>
              <a:t>Hsu et al., ICARCV 2010 [1]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 w="9525">
            <a:solidFill>
              <a:srgbClr val="F7F7F2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609600" y="3238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1" dirty="0">
                <a:solidFill>
                  <a:srgbClr val="0F766E"/>
                </a:solidFill>
                <a:latin typeface="Aptos"/>
                <a:cs typeface="Aptos"/>
              </a:rPr>
              <a:t>PAPER SOLUTION 2/2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09600" y="552450"/>
            <a:ext cx="109728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900" b="1" dirty="0">
                <a:solidFill>
                  <a:srgbClr val="111827"/>
                </a:solidFill>
                <a:latin typeface="Aptos"/>
                <a:cs typeface="Aptos"/>
              </a:rPr>
              <a:t>SCF - Segmental Contour Following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09600" y="9906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5B6472"/>
                </a:solidFill>
                <a:latin typeface="Aptos"/>
                <a:cs typeface="Aptos"/>
              </a:rPr>
              <a:t>Between every neighboring IEPS pair, a 3-candidate operating mask walks pixel by pixel, pulled by a gravity-like force toward the target point.</a:t>
            </a:r>
          </a:p>
        </p:txBody>
      </p:sp>
      <p:sp>
        <p:nvSpPr>
          <p:cNvPr id="6" name="rect"/>
          <p:cNvSpPr/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7D7CC"/>
          </a:solidFill>
          <a:ln w="9525">
            <a:solidFill>
              <a:srgbClr val="D7D7CC"/>
            </a:solidFill>
          </a:ln>
        </p:spPr>
      </p:sp>
      <p:sp>
        <p:nvSpPr>
          <p:cNvPr id="7" name="rect"/>
          <p:cNvSpPr/>
          <p:nvPr/>
        </p:nvSpPr>
        <p:spPr>
          <a:xfrm>
            <a:off x="609600" y="1695450"/>
            <a:ext cx="6572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8" name="rect"/>
          <p:cNvSpPr/>
          <p:nvPr/>
        </p:nvSpPr>
        <p:spPr>
          <a:xfrm>
            <a:off x="609600" y="1695450"/>
            <a:ext cx="57150" cy="876300"/>
          </a:xfrm>
          <a:prstGeom prst="rect">
            <a:avLst/>
          </a:prstGeom>
          <a:solidFill>
            <a:srgbClr val="1D4ED8"/>
          </a:solidFill>
          <a:ln w="9525">
            <a:solidFill>
              <a:srgbClr val="1D4ED8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800100" y="1790700"/>
            <a:ext cx="6248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00" b="1" dirty="0">
                <a:solidFill>
                  <a:srgbClr val="111827"/>
                </a:solidFill>
                <a:latin typeface="Aptos"/>
                <a:cs typeface="Aptos"/>
              </a:rPr>
              <a:t>Related direction - Eq. (8), Table I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800100" y="2019300"/>
            <a:ext cx="62484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Dx = x_i+1 - x_i,  Dy = y_i+1 - y_i.  The sign pair (Dx, Dy) selects one of 9 states: E, SE, S, SW, W, NW, N, NE, or linked.</a:t>
            </a:r>
          </a:p>
        </p:txBody>
      </p:sp>
      <p:sp>
        <p:nvSpPr>
          <p:cNvPr id="11" name="rect"/>
          <p:cNvSpPr/>
          <p:nvPr/>
        </p:nvSpPr>
        <p:spPr>
          <a:xfrm>
            <a:off x="609600" y="2686050"/>
            <a:ext cx="6572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12" name="rect"/>
          <p:cNvSpPr/>
          <p:nvPr/>
        </p:nvSpPr>
        <p:spPr>
          <a:xfrm>
            <a:off x="609600" y="2686050"/>
            <a:ext cx="57150" cy="876300"/>
          </a:xfrm>
          <a:prstGeom prst="rect">
            <a:avLst/>
          </a:prstGeom>
          <a:solidFill>
            <a:srgbClr val="1D4ED8"/>
          </a:solidFill>
          <a:ln w="9525">
            <a:solidFill>
              <a:srgbClr val="1D4ED8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800100" y="2781300"/>
            <a:ext cx="6248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00" b="1" dirty="0">
                <a:solidFill>
                  <a:srgbClr val="111827"/>
                </a:solidFill>
                <a:latin typeface="Aptos"/>
                <a:cs typeface="Aptos"/>
              </a:rPr>
              <a:t>Operating mask - Fig. 4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800100" y="3009900"/>
            <a:ext cx="62484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Each state maps to a mask with three candidate pixels A, B, C around the current point, oriented toward the target.</a:t>
            </a:r>
          </a:p>
        </p:txBody>
      </p:sp>
      <p:sp>
        <p:nvSpPr>
          <p:cNvPr id="15" name="rect"/>
          <p:cNvSpPr/>
          <p:nvPr/>
        </p:nvSpPr>
        <p:spPr>
          <a:xfrm>
            <a:off x="609600" y="3676650"/>
            <a:ext cx="6572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16" name="rect"/>
          <p:cNvSpPr/>
          <p:nvPr/>
        </p:nvSpPr>
        <p:spPr>
          <a:xfrm>
            <a:off x="609600" y="3676650"/>
            <a:ext cx="57150" cy="876300"/>
          </a:xfrm>
          <a:prstGeom prst="rect">
            <a:avLst/>
          </a:prstGeom>
          <a:solidFill>
            <a:srgbClr val="1D4ED8"/>
          </a:solidFill>
          <a:ln w="9525">
            <a:solidFill>
              <a:srgbClr val="1D4ED8"/>
            </a:solidFill>
          </a:ln>
        </p:spPr>
      </p:sp>
      <p:sp>
        <p:nvSpPr>
          <p:cNvPr id="17" name="text"/>
          <p:cNvSpPr txBox="1"/>
          <p:nvPr/>
        </p:nvSpPr>
        <p:spPr>
          <a:xfrm>
            <a:off x="800100" y="3771900"/>
            <a:ext cx="6248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00" b="1" dirty="0">
                <a:solidFill>
                  <a:srgbClr val="111827"/>
                </a:solidFill>
                <a:latin typeface="Aptos"/>
                <a:cs typeface="Aptos"/>
              </a:rPr>
              <a:t>Force of gravity - Eq. (9)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800100" y="4000500"/>
            <a:ext cx="62484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F(p) = grad_f(x,y) / sqrt(dx^2 + dy^2).  Gradient magnitude acts as mass; distance to the target supplies the attraction.</a:t>
            </a:r>
          </a:p>
        </p:txBody>
      </p:sp>
      <p:sp>
        <p:nvSpPr>
          <p:cNvPr id="19" name="rect"/>
          <p:cNvSpPr/>
          <p:nvPr/>
        </p:nvSpPr>
        <p:spPr>
          <a:xfrm>
            <a:off x="609600" y="4667250"/>
            <a:ext cx="6572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20" name="rect"/>
          <p:cNvSpPr/>
          <p:nvPr/>
        </p:nvSpPr>
        <p:spPr>
          <a:xfrm>
            <a:off x="609600" y="4667250"/>
            <a:ext cx="57150" cy="876300"/>
          </a:xfrm>
          <a:prstGeom prst="rect">
            <a:avLst/>
          </a:prstGeom>
          <a:solidFill>
            <a:srgbClr val="1D4ED8"/>
          </a:solidFill>
          <a:ln w="9525">
            <a:solidFill>
              <a:srgbClr val="1D4ED8"/>
            </a:solidFill>
          </a:ln>
        </p:spPr>
      </p:sp>
      <p:sp>
        <p:nvSpPr>
          <p:cNvPr id="21" name="text"/>
          <p:cNvSpPr txBox="1"/>
          <p:nvPr/>
        </p:nvSpPr>
        <p:spPr>
          <a:xfrm>
            <a:off x="800100" y="4762500"/>
            <a:ext cx="6248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00" b="1" dirty="0">
                <a:solidFill>
                  <a:srgbClr val="111827"/>
                </a:solidFill>
                <a:latin typeface="Aptos"/>
                <a:cs typeface="Aptos"/>
              </a:rPr>
              <a:t>Closure - Fig. 2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800100" y="4991100"/>
            <a:ext cx="62484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The candidate with the largest F(p) becomes the next contour point and the new origin; segments repeat until the contour is closed.</a:t>
            </a:r>
          </a:p>
        </p:txBody>
      </p:sp>
      <p:pic>
        <p:nvPicPr>
          <p:cNvPr id="23" name="image" descr="scf_contour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7524750" y="1714500"/>
            <a:ext cx="1905000" cy="1905000"/>
          </a:xfrm>
          <a:prstGeom prst="rect">
            <a:avLst/>
          </a:prstGeom>
        </p:spPr>
      </p:pic>
      <p:sp>
        <p:nvSpPr>
          <p:cNvPr id="24" name="text"/>
          <p:cNvSpPr txBox="1"/>
          <p:nvPr/>
        </p:nvSpPr>
        <p:spPr>
          <a:xfrm>
            <a:off x="7524750" y="3676650"/>
            <a:ext cx="19050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100" dirty="0">
                <a:solidFill>
                  <a:srgbClr val="5B6472"/>
                </a:solidFill>
                <a:latin typeface="Aptos"/>
                <a:cs typeface="Aptos"/>
              </a:rPr>
              <a:t>SCF trace, noisy U-shape</a:t>
            </a:r>
          </a:p>
        </p:txBody>
      </p:sp>
      <p:pic>
        <p:nvPicPr>
          <p:cNvPr id="25" name="image" descr="scf_contour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9620250" y="1714500"/>
            <a:ext cx="1905000" cy="1905000"/>
          </a:xfrm>
          <a:prstGeom prst="rect">
            <a:avLst/>
          </a:prstGeom>
        </p:spPr>
      </p:pic>
      <p:sp>
        <p:nvSpPr>
          <p:cNvPr id="26" name="text"/>
          <p:cNvSpPr txBox="1"/>
          <p:nvPr/>
        </p:nvSpPr>
        <p:spPr>
          <a:xfrm>
            <a:off x="9620250" y="3676650"/>
            <a:ext cx="19050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100" dirty="0">
                <a:solidFill>
                  <a:srgbClr val="5B6472"/>
                </a:solidFill>
                <a:latin typeface="Aptos"/>
                <a:cs typeface="Aptos"/>
              </a:rPr>
              <a:t>SCF trace, noisy circle</a:t>
            </a:r>
          </a:p>
        </p:txBody>
      </p:sp>
      <p:sp>
        <p:nvSpPr>
          <p:cNvPr id="27" name="rect"/>
          <p:cNvSpPr/>
          <p:nvPr/>
        </p:nvSpPr>
        <p:spPr>
          <a:xfrm>
            <a:off x="7524750" y="4114800"/>
            <a:ext cx="40005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28" name="rect"/>
          <p:cNvSpPr/>
          <p:nvPr/>
        </p:nvSpPr>
        <p:spPr>
          <a:xfrm>
            <a:off x="7524750" y="4114800"/>
            <a:ext cx="57150" cy="1905000"/>
          </a:xfrm>
          <a:prstGeom prst="rect">
            <a:avLst/>
          </a:prstGeom>
          <a:solidFill>
            <a:srgbClr val="15803D"/>
          </a:solidFill>
          <a:ln w="9525">
            <a:solidFill>
              <a:srgbClr val="15803D"/>
            </a:solidFill>
          </a:ln>
        </p:spPr>
      </p:sp>
      <p:sp>
        <p:nvSpPr>
          <p:cNvPr id="29" name="text"/>
          <p:cNvSpPr txBox="1"/>
          <p:nvPr/>
        </p:nvSpPr>
        <p:spPr>
          <a:xfrm>
            <a:off x="7696200" y="4248150"/>
            <a:ext cx="37147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1" dirty="0">
                <a:solidFill>
                  <a:srgbClr val="111827"/>
                </a:solidFill>
                <a:latin typeface="Aptos"/>
                <a:cs typeface="Aptos"/>
              </a:rPr>
              <a:t>Paper's claims to validate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7696200" y="4533900"/>
            <a:ext cx="369570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5B6472"/>
                </a:solidFill>
                <a:latin typeface="Aptos"/>
                <a:cs typeface="Aptos"/>
              </a:rPr>
              <a:t>IEPS beats Yuen's fixed-angle initialization (Table II); SCF beats Chen's gradient-only tracing (96-98% vs ~80% true-positive ratio, Table IV); whole pipeline runs in tens of milliseconds (Table V).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609600" y="6553200"/>
            <a:ext cx="5905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00" dirty="0">
                <a:solidFill>
                  <a:srgbClr val="727B85"/>
                </a:solidFill>
                <a:latin typeface="Aptos"/>
                <a:cs typeface="Aptos"/>
              </a:rPr>
              <a:t>IEPS + SCF reproducibility study  |  Parth Goswami  |  04 / 10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7239000" y="6553200"/>
            <a:ext cx="4343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dirty="0">
                <a:solidFill>
                  <a:srgbClr val="727B85"/>
                </a:solidFill>
                <a:latin typeface="Aptos"/>
                <a:cs typeface="Aptos"/>
              </a:rPr>
              <a:t>Hsu et al., ICARCV 2010 [1]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 w="9525">
            <a:solidFill>
              <a:srgbClr val="F7F7F2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609600" y="3238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1" dirty="0">
                <a:solidFill>
                  <a:srgbClr val="0F766E"/>
                </a:solidFill>
                <a:latin typeface="Aptos"/>
                <a:cs typeface="Aptos"/>
              </a:rPr>
              <a:t>OWN WORK 1/2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09600" y="552450"/>
            <a:ext cx="109728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900" b="1" dirty="0">
                <a:solidFill>
                  <a:srgbClr val="111827"/>
                </a:solidFill>
                <a:latin typeface="Aptos"/>
                <a:cs typeface="Aptos"/>
              </a:rPr>
              <a:t>A reproducibility study of IEPS + SCF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09600" y="9906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5B6472"/>
                </a:solidFill>
                <a:latin typeface="Aptos"/>
                <a:cs typeface="Aptos"/>
              </a:rPr>
              <a:t>Agreed with the professor: validate the authors' own method instead of drifting into a broad Canny / preprocessing comparison.</a:t>
            </a:r>
          </a:p>
        </p:txBody>
      </p:sp>
      <p:sp>
        <p:nvSpPr>
          <p:cNvPr id="6" name="rect"/>
          <p:cNvSpPr/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7D7CC"/>
          </a:solidFill>
          <a:ln w="9525">
            <a:solidFill>
              <a:srgbClr val="D7D7CC"/>
            </a:solidFill>
          </a:ln>
        </p:spPr>
      </p:sp>
      <p:sp>
        <p:nvSpPr>
          <p:cNvPr id="7" name="rect"/>
          <p:cNvSpPr/>
          <p:nvPr/>
        </p:nvSpPr>
        <p:spPr>
          <a:xfrm>
            <a:off x="609600" y="1638300"/>
            <a:ext cx="109728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8" name="rect"/>
          <p:cNvSpPr/>
          <p:nvPr/>
        </p:nvSpPr>
        <p:spPr>
          <a:xfrm>
            <a:off x="609600" y="1638300"/>
            <a:ext cx="57150" cy="70485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800100" y="1771650"/>
            <a:ext cx="10610850" cy="4762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00" b="1" dirty="0">
                <a:solidFill>
                  <a:srgbClr val="111827"/>
                </a:solidFill>
                <a:latin typeface="Aptos"/>
                <a:cs typeface="Aptos"/>
              </a:rPr>
              <a:t>Research question: Can IEPS + SCF be reimplemented from the paper description alone and validated on author-style circle and U-shape images, including noisy cases, while identifying the missing implementation details needed to reproduce the behavior?</a:t>
            </a:r>
          </a:p>
        </p:txBody>
      </p:sp>
      <p:sp>
        <p:nvSpPr>
          <p:cNvPr id="10" name="rect"/>
          <p:cNvSpPr/>
          <p:nvPr/>
        </p:nvSpPr>
        <p:spPr>
          <a:xfrm>
            <a:off x="609600" y="2609850"/>
            <a:ext cx="3072384" cy="304800"/>
          </a:xfrm>
          <a:prstGeom prst="rect">
            <a:avLst/>
          </a:prstGeom>
          <a:solidFill>
            <a:srgbClr val="101418"/>
          </a:solidFill>
          <a:ln w="9525">
            <a:solidFill>
              <a:srgbClr val="101418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685800" y="2667000"/>
            <a:ext cx="291998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ptos"/>
                <a:cs typeface="Aptos"/>
              </a:rPr>
              <a:t>Under-specified in the paper</a:t>
            </a:r>
          </a:p>
        </p:txBody>
      </p:sp>
      <p:sp>
        <p:nvSpPr>
          <p:cNvPr id="12" name="rect"/>
          <p:cNvSpPr/>
          <p:nvPr/>
        </p:nvSpPr>
        <p:spPr>
          <a:xfrm>
            <a:off x="3681984" y="2609850"/>
            <a:ext cx="3730752" cy="304800"/>
          </a:xfrm>
          <a:prstGeom prst="rect">
            <a:avLst/>
          </a:prstGeom>
          <a:solidFill>
            <a:srgbClr val="101418"/>
          </a:solidFill>
          <a:ln w="9525">
            <a:solidFill>
              <a:srgbClr val="101418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3758184" y="2667000"/>
            <a:ext cx="3578352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ptos"/>
                <a:cs typeface="Aptos"/>
              </a:rPr>
              <a:t>Why it changes the result</a:t>
            </a:r>
          </a:p>
        </p:txBody>
      </p:sp>
      <p:sp>
        <p:nvSpPr>
          <p:cNvPr id="14" name="rect"/>
          <p:cNvSpPr/>
          <p:nvPr/>
        </p:nvSpPr>
        <p:spPr>
          <a:xfrm>
            <a:off x="7412736" y="2609850"/>
            <a:ext cx="4169664" cy="304800"/>
          </a:xfrm>
          <a:prstGeom prst="rect">
            <a:avLst/>
          </a:prstGeom>
          <a:solidFill>
            <a:srgbClr val="101418"/>
          </a:solidFill>
          <a:ln w="9525">
            <a:solidFill>
              <a:srgbClr val="101418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7488936" y="2667000"/>
            <a:ext cx="401726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ptos"/>
                <a:cs typeface="Aptos"/>
              </a:rPr>
              <a:t>Rule fixed in this implementation</a:t>
            </a:r>
          </a:p>
        </p:txBody>
      </p:sp>
      <p:sp>
        <p:nvSpPr>
          <p:cNvPr id="16" name="rect"/>
          <p:cNvSpPr/>
          <p:nvPr/>
        </p:nvSpPr>
        <p:spPr>
          <a:xfrm>
            <a:off x="609600" y="2914650"/>
            <a:ext cx="3072384" cy="364671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17" name="text"/>
          <p:cNvSpPr txBox="1"/>
          <p:nvPr/>
        </p:nvSpPr>
        <p:spPr>
          <a:xfrm>
            <a:off x="685800" y="2962275"/>
            <a:ext cx="2919984" cy="288471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111827"/>
                </a:solidFill>
                <a:latin typeface="Aptos"/>
                <a:cs typeface="Aptos"/>
              </a:rPr>
              <a:t>'Closed contour?' stop rule</a:t>
            </a:r>
          </a:p>
        </p:txBody>
      </p:sp>
      <p:sp>
        <p:nvSpPr>
          <p:cNvPr id="18" name="rect"/>
          <p:cNvSpPr/>
          <p:nvPr/>
        </p:nvSpPr>
        <p:spPr>
          <a:xfrm>
            <a:off x="3681984" y="2914650"/>
            <a:ext cx="3730752" cy="364671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3758184" y="2962275"/>
            <a:ext cx="3578352" cy="288471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a flow-chart diamond is not code</a:t>
            </a:r>
          </a:p>
        </p:txBody>
      </p:sp>
      <p:sp>
        <p:nvSpPr>
          <p:cNvPr id="20" name="rect"/>
          <p:cNvSpPr/>
          <p:nvPr/>
        </p:nvSpPr>
        <p:spPr>
          <a:xfrm>
            <a:off x="7412736" y="2914650"/>
            <a:ext cx="4169664" cy="364671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21" name="text"/>
          <p:cNvSpPr txBox="1"/>
          <p:nvPr/>
        </p:nvSpPr>
        <p:spPr>
          <a:xfrm>
            <a:off x="7488936" y="2962275"/>
            <a:ext cx="4017264" cy="288471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stop when distance to target &lt;= 2 px</a:t>
            </a:r>
          </a:p>
        </p:txBody>
      </p:sp>
      <p:sp>
        <p:nvSpPr>
          <p:cNvPr id="22" name="rect"/>
          <p:cNvSpPr/>
          <p:nvPr/>
        </p:nvSpPr>
        <p:spPr>
          <a:xfrm>
            <a:off x="609600" y="3279321"/>
            <a:ext cx="3072384" cy="364671"/>
          </a:xfrm>
          <a:prstGeom prst="rect">
            <a:avLst/>
          </a:prstGeom>
          <a:solidFill>
            <a:srgbClr val="F1F5F2"/>
          </a:solidFill>
          <a:ln w="9525">
            <a:solidFill>
              <a:srgbClr val="D7D7CC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685800" y="3326946"/>
            <a:ext cx="2919984" cy="288471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111827"/>
                </a:solidFill>
                <a:latin typeface="Aptos"/>
                <a:cs typeface="Aptos"/>
              </a:rPr>
              <a:t>Candidate tie-breaking</a:t>
            </a:r>
          </a:p>
        </p:txBody>
      </p:sp>
      <p:sp>
        <p:nvSpPr>
          <p:cNvPr id="24" name="rect"/>
          <p:cNvSpPr/>
          <p:nvPr/>
        </p:nvSpPr>
        <p:spPr>
          <a:xfrm>
            <a:off x="3681984" y="3279321"/>
            <a:ext cx="3730752" cy="364671"/>
          </a:xfrm>
          <a:prstGeom prst="rect">
            <a:avLst/>
          </a:prstGeom>
          <a:solidFill>
            <a:srgbClr val="F1F5F2"/>
          </a:solidFill>
          <a:ln w="9525">
            <a:solidFill>
              <a:srgbClr val="D7D7CC"/>
            </a:solidFill>
          </a:ln>
        </p:spPr>
      </p:sp>
      <p:sp>
        <p:nvSpPr>
          <p:cNvPr id="25" name="text"/>
          <p:cNvSpPr txBox="1"/>
          <p:nvPr/>
        </p:nvSpPr>
        <p:spPr>
          <a:xfrm>
            <a:off x="3758184" y="3326946"/>
            <a:ext cx="3578352" cy="288471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several pixels score alike on flat edges</a:t>
            </a:r>
          </a:p>
        </p:txBody>
      </p:sp>
      <p:sp>
        <p:nvSpPr>
          <p:cNvPr id="26" name="rect"/>
          <p:cNvSpPr/>
          <p:nvPr/>
        </p:nvSpPr>
        <p:spPr>
          <a:xfrm>
            <a:off x="7412736" y="3279321"/>
            <a:ext cx="4169664" cy="364671"/>
          </a:xfrm>
          <a:prstGeom prst="rect">
            <a:avLst/>
          </a:prstGeom>
          <a:solidFill>
            <a:srgbClr val="F1F5F2"/>
          </a:solidFill>
          <a:ln w="9525">
            <a:solidFill>
              <a:srgbClr val="D7D7CC"/>
            </a:solidFill>
          </a:ln>
        </p:spPr>
      </p:sp>
      <p:sp>
        <p:nvSpPr>
          <p:cNvPr id="27" name="text"/>
          <p:cNvSpPr txBox="1"/>
          <p:nvPr/>
        </p:nvSpPr>
        <p:spPr>
          <a:xfrm>
            <a:off x="7488936" y="3326946"/>
            <a:ext cx="4017264" cy="288471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score, then gradient, then target distance</a:t>
            </a:r>
          </a:p>
        </p:txBody>
      </p:sp>
      <p:sp>
        <p:nvSpPr>
          <p:cNvPr id="28" name="rect"/>
          <p:cNvSpPr/>
          <p:nvPr/>
        </p:nvSpPr>
        <p:spPr>
          <a:xfrm>
            <a:off x="609600" y="3643993"/>
            <a:ext cx="3072384" cy="364671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29" name="text"/>
          <p:cNvSpPr txBox="1"/>
          <p:nvPr/>
        </p:nvSpPr>
        <p:spPr>
          <a:xfrm>
            <a:off x="685800" y="3691618"/>
            <a:ext cx="2919984" cy="288471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111827"/>
                </a:solidFill>
                <a:latin typeface="Aptos"/>
                <a:cs typeface="Aptos"/>
              </a:rPr>
              <a:t>Loop prevention</a:t>
            </a:r>
          </a:p>
        </p:txBody>
      </p:sp>
      <p:sp>
        <p:nvSpPr>
          <p:cNvPr id="30" name="rect"/>
          <p:cNvSpPr/>
          <p:nvPr/>
        </p:nvSpPr>
        <p:spPr>
          <a:xfrm>
            <a:off x="3681984" y="3643993"/>
            <a:ext cx="3730752" cy="364671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3758184" y="3691618"/>
            <a:ext cx="3578352" cy="288471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greedy tracing can revisit pixels</a:t>
            </a:r>
          </a:p>
        </p:txBody>
      </p:sp>
      <p:sp>
        <p:nvSpPr>
          <p:cNvPr id="32" name="rect"/>
          <p:cNvSpPr/>
          <p:nvPr/>
        </p:nvSpPr>
        <p:spPr>
          <a:xfrm>
            <a:off x="7412736" y="3643993"/>
            <a:ext cx="4169664" cy="364671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33" name="text"/>
          <p:cNvSpPr txBox="1"/>
          <p:nvPr/>
        </p:nvSpPr>
        <p:spPr>
          <a:xfrm>
            <a:off x="7488936" y="3691618"/>
            <a:ext cx="4017264" cy="288471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visited set per segment + max 3x distance steps</a:t>
            </a:r>
          </a:p>
        </p:txBody>
      </p:sp>
      <p:sp>
        <p:nvSpPr>
          <p:cNvPr id="34" name="rect"/>
          <p:cNvSpPr/>
          <p:nvPr/>
        </p:nvSpPr>
        <p:spPr>
          <a:xfrm>
            <a:off x="609600" y="4008664"/>
            <a:ext cx="3072384" cy="364671"/>
          </a:xfrm>
          <a:prstGeom prst="rect">
            <a:avLst/>
          </a:prstGeom>
          <a:solidFill>
            <a:srgbClr val="F1F5F2"/>
          </a:solidFill>
          <a:ln w="9525">
            <a:solidFill>
              <a:srgbClr val="D7D7CC"/>
            </a:solidFill>
          </a:ln>
        </p:spPr>
      </p:sp>
      <p:sp>
        <p:nvSpPr>
          <p:cNvPr id="35" name="text"/>
          <p:cNvSpPr txBox="1"/>
          <p:nvPr/>
        </p:nvSpPr>
        <p:spPr>
          <a:xfrm>
            <a:off x="685800" y="4056289"/>
            <a:ext cx="2919984" cy="288471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111827"/>
                </a:solidFill>
                <a:latin typeface="Aptos"/>
                <a:cs typeface="Aptos"/>
              </a:rPr>
              <a:t>Weak-gradient candidates</a:t>
            </a:r>
          </a:p>
        </p:txBody>
      </p:sp>
      <p:sp>
        <p:nvSpPr>
          <p:cNvPr id="36" name="rect"/>
          <p:cNvSpPr/>
          <p:nvPr/>
        </p:nvSpPr>
        <p:spPr>
          <a:xfrm>
            <a:off x="3681984" y="4008664"/>
            <a:ext cx="3730752" cy="364671"/>
          </a:xfrm>
          <a:prstGeom prst="rect">
            <a:avLst/>
          </a:prstGeom>
          <a:solidFill>
            <a:srgbClr val="F1F5F2"/>
          </a:solidFill>
          <a:ln w="9525">
            <a:solidFill>
              <a:srgbClr val="D7D7CC"/>
            </a:solidFill>
          </a:ln>
        </p:spPr>
      </p:sp>
      <p:sp>
        <p:nvSpPr>
          <p:cNvPr id="37" name="text"/>
          <p:cNvSpPr txBox="1"/>
          <p:nvPr/>
        </p:nvSpPr>
        <p:spPr>
          <a:xfrm>
            <a:off x="3758184" y="4056289"/>
            <a:ext cx="3578352" cy="288471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noise breaks edges; mask can go blind</a:t>
            </a:r>
          </a:p>
        </p:txBody>
      </p:sp>
      <p:sp>
        <p:nvSpPr>
          <p:cNvPr id="38" name="rect"/>
          <p:cNvSpPr/>
          <p:nvPr/>
        </p:nvSpPr>
        <p:spPr>
          <a:xfrm>
            <a:off x="7412736" y="4008664"/>
            <a:ext cx="4169664" cy="364671"/>
          </a:xfrm>
          <a:prstGeom prst="rect">
            <a:avLst/>
          </a:prstGeom>
          <a:solidFill>
            <a:srgbClr val="F1F5F2"/>
          </a:solidFill>
          <a:ln w="9525">
            <a:solidFill>
              <a:srgbClr val="D7D7CC"/>
            </a:solidFill>
          </a:ln>
        </p:spPr>
      </p:sp>
      <p:sp>
        <p:nvSpPr>
          <p:cNvPr id="39" name="text"/>
          <p:cNvSpPr txBox="1"/>
          <p:nvPr/>
        </p:nvSpPr>
        <p:spPr>
          <a:xfrm>
            <a:off x="7488936" y="4056289"/>
            <a:ext cx="4017264" cy="288471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fall back to the candidate closest to the target</a:t>
            </a:r>
          </a:p>
        </p:txBody>
      </p:sp>
      <p:sp>
        <p:nvSpPr>
          <p:cNvPr id="40" name="rect"/>
          <p:cNvSpPr/>
          <p:nvPr/>
        </p:nvSpPr>
        <p:spPr>
          <a:xfrm>
            <a:off x="609600" y="4373336"/>
            <a:ext cx="3072384" cy="364671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41" name="text"/>
          <p:cNvSpPr txBox="1"/>
          <p:nvPr/>
        </p:nvSpPr>
        <p:spPr>
          <a:xfrm>
            <a:off x="685800" y="4420961"/>
            <a:ext cx="2919984" cy="288471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111827"/>
                </a:solidFill>
                <a:latin typeface="Aptos"/>
                <a:cs typeface="Aptos"/>
              </a:rPr>
              <a:t>Scan-line discretization</a:t>
            </a:r>
          </a:p>
        </p:txBody>
      </p:sp>
      <p:sp>
        <p:nvSpPr>
          <p:cNvPr id="42" name="rect"/>
          <p:cNvSpPr/>
          <p:nvPr/>
        </p:nvSpPr>
        <p:spPr>
          <a:xfrm>
            <a:off x="3681984" y="4373336"/>
            <a:ext cx="3730752" cy="364671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43" name="text"/>
          <p:cNvSpPr txBox="1"/>
          <p:nvPr/>
        </p:nvSpPr>
        <p:spPr>
          <a:xfrm>
            <a:off x="3758184" y="4420961"/>
            <a:ext cx="3578352" cy="288471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which pixels lie on a ray / normal line</a:t>
            </a:r>
          </a:p>
        </p:txBody>
      </p:sp>
      <p:sp>
        <p:nvSpPr>
          <p:cNvPr id="44" name="rect"/>
          <p:cNvSpPr/>
          <p:nvPr/>
        </p:nvSpPr>
        <p:spPr>
          <a:xfrm>
            <a:off x="7412736" y="4373336"/>
            <a:ext cx="4169664" cy="364671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45" name="text"/>
          <p:cNvSpPr txBox="1"/>
          <p:nvPr/>
        </p:nvSpPr>
        <p:spPr>
          <a:xfrm>
            <a:off x="7488936" y="4420961"/>
            <a:ext cx="4017264" cy="288471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integer sampling; public points stay (x, y)</a:t>
            </a:r>
          </a:p>
        </p:txBody>
      </p:sp>
      <p:sp>
        <p:nvSpPr>
          <p:cNvPr id="46" name="rect"/>
          <p:cNvSpPr/>
          <p:nvPr/>
        </p:nvSpPr>
        <p:spPr>
          <a:xfrm>
            <a:off x="609600" y="4738007"/>
            <a:ext cx="3072384" cy="364671"/>
          </a:xfrm>
          <a:prstGeom prst="rect">
            <a:avLst/>
          </a:prstGeom>
          <a:solidFill>
            <a:srgbClr val="F1F5F2"/>
          </a:solidFill>
          <a:ln w="9525">
            <a:solidFill>
              <a:srgbClr val="D7D7CC"/>
            </a:solidFill>
          </a:ln>
        </p:spPr>
      </p:sp>
      <p:sp>
        <p:nvSpPr>
          <p:cNvPr id="47" name="text"/>
          <p:cNvSpPr txBox="1"/>
          <p:nvPr/>
        </p:nvSpPr>
        <p:spPr>
          <a:xfrm>
            <a:off x="685800" y="4785632"/>
            <a:ext cx="2919984" cy="288471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111827"/>
                </a:solidFill>
                <a:latin typeface="Aptos"/>
                <a:cs typeface="Aptos"/>
              </a:rPr>
              <a:t>Missing edge on a scan line</a:t>
            </a:r>
          </a:p>
        </p:txBody>
      </p:sp>
      <p:sp>
        <p:nvSpPr>
          <p:cNvPr id="48" name="rect"/>
          <p:cNvSpPr/>
          <p:nvPr/>
        </p:nvSpPr>
        <p:spPr>
          <a:xfrm>
            <a:off x="3681984" y="4738007"/>
            <a:ext cx="3730752" cy="364671"/>
          </a:xfrm>
          <a:prstGeom prst="rect">
            <a:avLst/>
          </a:prstGeom>
          <a:solidFill>
            <a:srgbClr val="F1F5F2"/>
          </a:solidFill>
          <a:ln w="9525">
            <a:solidFill>
              <a:srgbClr val="D7D7CC"/>
            </a:solidFill>
          </a:ln>
        </p:spPr>
      </p:sp>
      <p:sp>
        <p:nvSpPr>
          <p:cNvPr id="49" name="text"/>
          <p:cNvSpPr txBox="1"/>
          <p:nvPr/>
        </p:nvSpPr>
        <p:spPr>
          <a:xfrm>
            <a:off x="3758184" y="4785632"/>
            <a:ext cx="3578352" cy="288471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threshold can fail on a whole line</a:t>
            </a:r>
          </a:p>
        </p:txBody>
      </p:sp>
      <p:sp>
        <p:nvSpPr>
          <p:cNvPr id="50" name="rect"/>
          <p:cNvSpPr/>
          <p:nvPr/>
        </p:nvSpPr>
        <p:spPr>
          <a:xfrm>
            <a:off x="7412736" y="4738007"/>
            <a:ext cx="4169664" cy="364671"/>
          </a:xfrm>
          <a:prstGeom prst="rect">
            <a:avLst/>
          </a:prstGeom>
          <a:solidFill>
            <a:srgbClr val="F1F5F2"/>
          </a:solidFill>
          <a:ln w="9525">
            <a:solidFill>
              <a:srgbClr val="D7D7CC"/>
            </a:solidFill>
          </a:ln>
        </p:spPr>
      </p:sp>
      <p:sp>
        <p:nvSpPr>
          <p:cNvPr id="51" name="text"/>
          <p:cNvSpPr txBox="1"/>
          <p:nvPr/>
        </p:nvSpPr>
        <p:spPr>
          <a:xfrm>
            <a:off x="7488936" y="4785632"/>
            <a:ext cx="4017264" cy="288471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max-gradient fallback instead of silent drop</a:t>
            </a:r>
          </a:p>
        </p:txBody>
      </p:sp>
      <p:sp>
        <p:nvSpPr>
          <p:cNvPr id="52" name="rect"/>
          <p:cNvSpPr/>
          <p:nvPr/>
        </p:nvSpPr>
        <p:spPr>
          <a:xfrm>
            <a:off x="609600" y="5102679"/>
            <a:ext cx="3072384" cy="364671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53" name="text"/>
          <p:cNvSpPr txBox="1"/>
          <p:nvPr/>
        </p:nvSpPr>
        <p:spPr>
          <a:xfrm>
            <a:off x="685800" y="5150304"/>
            <a:ext cx="2919984" cy="288471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111827"/>
                </a:solidFill>
                <a:latin typeface="Aptos"/>
                <a:cs typeface="Aptos"/>
              </a:rPr>
              <a:t>True-positive tolerance</a:t>
            </a:r>
          </a:p>
        </p:txBody>
      </p:sp>
      <p:sp>
        <p:nvSpPr>
          <p:cNvPr id="54" name="rect"/>
          <p:cNvSpPr/>
          <p:nvPr/>
        </p:nvSpPr>
        <p:spPr>
          <a:xfrm>
            <a:off x="3681984" y="5102679"/>
            <a:ext cx="3730752" cy="364671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55" name="text"/>
          <p:cNvSpPr txBox="1"/>
          <p:nvPr/>
        </p:nvSpPr>
        <p:spPr>
          <a:xfrm>
            <a:off x="3758184" y="5150304"/>
            <a:ext cx="3578352" cy="288471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paper reports ratios without a radius</a:t>
            </a:r>
          </a:p>
        </p:txBody>
      </p:sp>
      <p:sp>
        <p:nvSpPr>
          <p:cNvPr id="56" name="rect"/>
          <p:cNvSpPr/>
          <p:nvPr/>
        </p:nvSpPr>
        <p:spPr>
          <a:xfrm>
            <a:off x="7412736" y="5102679"/>
            <a:ext cx="4169664" cy="364671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57" name="text"/>
          <p:cNvSpPr txBox="1"/>
          <p:nvPr/>
        </p:nvSpPr>
        <p:spPr>
          <a:xfrm>
            <a:off x="7488936" y="5150304"/>
            <a:ext cx="4017264" cy="288471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2 px tolerance, distance-transform based</a:t>
            </a:r>
          </a:p>
        </p:txBody>
      </p:sp>
      <p:sp>
        <p:nvSpPr>
          <p:cNvPr id="58" name="text"/>
          <p:cNvSpPr txBox="1"/>
          <p:nvPr/>
        </p:nvSpPr>
        <p:spPr>
          <a:xfrm>
            <a:off x="609600" y="56769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00" b="1" dirty="0">
                <a:solidFill>
                  <a:srgbClr val="111827"/>
                </a:solidFill>
                <a:latin typeface="Aptos"/>
                <a:cs typeface="Aptos"/>
              </a:rPr>
              <a:t>Contribution: every rule above is made explicit, implemented, and then measured - the extension is a parameter study inside IEPS + SCF, not an external method.</a:t>
            </a:r>
          </a:p>
        </p:txBody>
      </p:sp>
      <p:sp>
        <p:nvSpPr>
          <p:cNvPr id="59" name="text"/>
          <p:cNvSpPr txBox="1"/>
          <p:nvPr/>
        </p:nvSpPr>
        <p:spPr>
          <a:xfrm>
            <a:off x="609600" y="6553200"/>
            <a:ext cx="5905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00" dirty="0">
                <a:solidFill>
                  <a:srgbClr val="727B85"/>
                </a:solidFill>
                <a:latin typeface="Aptos"/>
                <a:cs typeface="Aptos"/>
              </a:rPr>
              <a:t>IEPS + SCF reproducibility study  |  Parth Goswami  |  05 / 10</a:t>
            </a:r>
          </a:p>
        </p:txBody>
      </p:sp>
      <p:sp>
        <p:nvSpPr>
          <p:cNvPr id="60" name="text"/>
          <p:cNvSpPr txBox="1"/>
          <p:nvPr/>
        </p:nvSpPr>
        <p:spPr>
          <a:xfrm>
            <a:off x="7239000" y="6553200"/>
            <a:ext cx="4343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dirty="0">
                <a:solidFill>
                  <a:srgbClr val="727B85"/>
                </a:solidFill>
                <a:latin typeface="Aptos"/>
                <a:cs typeface="Aptos"/>
              </a:rPr>
              <a:t>Hsu et al., ICARCV 2010 [1]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 w="9525">
            <a:solidFill>
              <a:srgbClr val="F7F7F2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609600" y="3238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1" dirty="0">
                <a:solidFill>
                  <a:srgbClr val="0F766E"/>
                </a:solidFill>
                <a:latin typeface="Aptos"/>
                <a:cs typeface="Aptos"/>
              </a:rPr>
              <a:t>OWN WORK 2/2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09600" y="552450"/>
            <a:ext cx="109728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900" b="1" dirty="0">
                <a:solidFill>
                  <a:srgbClr val="111827"/>
                </a:solidFill>
                <a:latin typeface="Aptos"/>
                <a:cs typeface="Aptos"/>
              </a:rPr>
              <a:t>Implementation and validation design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09600" y="9906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5B6472"/>
                </a:solidFill>
                <a:latin typeface="Aptos"/>
                <a:cs typeface="Aptos"/>
              </a:rPr>
              <a:t>Hand-coded IEPS, SCF, geometry, and metrics in Python/NumPy; OpenCV only for Sobel, the secondary Canny baseline, and image I/O.</a:t>
            </a:r>
          </a:p>
        </p:txBody>
      </p:sp>
      <p:sp>
        <p:nvSpPr>
          <p:cNvPr id="6" name="rect"/>
          <p:cNvSpPr/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7D7CC"/>
          </a:solidFill>
          <a:ln w="9525">
            <a:solidFill>
              <a:srgbClr val="D7D7CC"/>
            </a:solidFill>
          </a:ln>
        </p:spPr>
      </p:sp>
      <p:sp>
        <p:nvSpPr>
          <p:cNvPr id="7" name="rect"/>
          <p:cNvSpPr/>
          <p:nvPr/>
        </p:nvSpPr>
        <p:spPr>
          <a:xfrm>
            <a:off x="609600" y="1638300"/>
            <a:ext cx="207264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8" name="text"/>
          <p:cNvSpPr txBox="1"/>
          <p:nvPr/>
        </p:nvSpPr>
        <p:spPr>
          <a:xfrm>
            <a:off x="704850" y="1752600"/>
            <a:ext cx="188214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400" b="1" dirty="0">
                <a:solidFill>
                  <a:srgbClr val="111827"/>
                </a:solidFill>
                <a:latin typeface="Aptos"/>
                <a:cs typeface="Aptos"/>
              </a:rPr>
              <a:t>Synthetic images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704850" y="2038350"/>
            <a:ext cx="1882140" cy="723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100" dirty="0">
                <a:solidFill>
                  <a:srgbClr val="5B6472"/>
                </a:solidFill>
                <a:latin typeface="Aptos"/>
                <a:cs typeface="Aptos"/>
              </a:rPr>
              <a:t>circle + U-shape, clean and sigma=20 noise, fixed seeds</a:t>
            </a:r>
          </a:p>
        </p:txBody>
      </p:sp>
      <p:sp>
        <p:nvSpPr>
          <p:cNvPr id="10" name="arrow"/>
          <p:cNvSpPr/>
          <p:nvPr/>
        </p:nvSpPr>
        <p:spPr>
          <a:xfrm>
            <a:off x="2710815" y="2162175"/>
            <a:ext cx="95250" cy="171450"/>
          </a:xfrm>
          <a:prstGeom prst="rightArrow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</p:sp>
      <p:sp>
        <p:nvSpPr>
          <p:cNvPr id="11" name="rect"/>
          <p:cNvSpPr/>
          <p:nvPr/>
        </p:nvSpPr>
        <p:spPr>
          <a:xfrm>
            <a:off x="2834640" y="1638300"/>
            <a:ext cx="207264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2929890" y="1752600"/>
            <a:ext cx="188214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400" b="1" dirty="0">
                <a:solidFill>
                  <a:srgbClr val="111827"/>
                </a:solidFill>
                <a:latin typeface="Aptos"/>
                <a:cs typeface="Aptos"/>
              </a:rPr>
              <a:t>Sobel gradient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2929890" y="2038350"/>
            <a:ext cx="1882140" cy="723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100" dirty="0">
                <a:solidFill>
                  <a:srgbClr val="5B6472"/>
                </a:solidFill>
                <a:latin typeface="Aptos"/>
                <a:cs typeface="Aptos"/>
              </a:rPr>
              <a:t>3x3 magnitude, normalized 0..255</a:t>
            </a:r>
          </a:p>
        </p:txBody>
      </p:sp>
      <p:sp>
        <p:nvSpPr>
          <p:cNvPr id="14" name="arrow"/>
          <p:cNvSpPr/>
          <p:nvPr/>
        </p:nvSpPr>
        <p:spPr>
          <a:xfrm>
            <a:off x="4935855" y="2162175"/>
            <a:ext cx="95250" cy="171450"/>
          </a:xfrm>
          <a:prstGeom prst="rightArrow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</p:sp>
      <p:sp>
        <p:nvSpPr>
          <p:cNvPr id="15" name="rect"/>
          <p:cNvSpPr/>
          <p:nvPr/>
        </p:nvSpPr>
        <p:spPr>
          <a:xfrm>
            <a:off x="5059680" y="1638300"/>
            <a:ext cx="207264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16" name="text"/>
          <p:cNvSpPr txBox="1"/>
          <p:nvPr/>
        </p:nvSpPr>
        <p:spPr>
          <a:xfrm>
            <a:off x="5154930" y="1752600"/>
            <a:ext cx="188214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400" b="1" dirty="0">
                <a:solidFill>
                  <a:srgbClr val="111827"/>
                </a:solidFill>
                <a:latin typeface="Aptos"/>
                <a:cs typeface="Aptos"/>
              </a:rPr>
              <a:t>CoG + IEPS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5154930" y="2038350"/>
            <a:ext cx="1882140" cy="723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100" dirty="0">
                <a:solidFill>
                  <a:srgbClr val="5B6472"/>
                </a:solidFill>
                <a:latin typeface="Aptos"/>
                <a:cs typeface="Aptos"/>
              </a:rPr>
              <a:t>4 rays, 3 iterations, T=64, 32 points</a:t>
            </a:r>
          </a:p>
        </p:txBody>
      </p:sp>
      <p:sp>
        <p:nvSpPr>
          <p:cNvPr id="18" name="arrow"/>
          <p:cNvSpPr/>
          <p:nvPr/>
        </p:nvSpPr>
        <p:spPr>
          <a:xfrm>
            <a:off x="7160895" y="2162175"/>
            <a:ext cx="95250" cy="171450"/>
          </a:xfrm>
          <a:prstGeom prst="rightArrow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</p:sp>
      <p:sp>
        <p:nvSpPr>
          <p:cNvPr id="19" name="rect"/>
          <p:cNvSpPr/>
          <p:nvPr/>
        </p:nvSpPr>
        <p:spPr>
          <a:xfrm>
            <a:off x="7284720" y="1638300"/>
            <a:ext cx="207264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20" name="text"/>
          <p:cNvSpPr txBox="1"/>
          <p:nvPr/>
        </p:nvSpPr>
        <p:spPr>
          <a:xfrm>
            <a:off x="7379970" y="1752600"/>
            <a:ext cx="188214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400" b="1" dirty="0">
                <a:solidFill>
                  <a:srgbClr val="111827"/>
                </a:solidFill>
                <a:latin typeface="Aptos"/>
                <a:cs typeface="Aptos"/>
              </a:rPr>
              <a:t>SCF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7379970" y="2038350"/>
            <a:ext cx="1882140" cy="723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100" dirty="0">
                <a:solidFill>
                  <a:srgbClr val="5B6472"/>
                </a:solidFill>
                <a:latin typeface="Aptos"/>
                <a:cs typeface="Aptos"/>
              </a:rPr>
              <a:t>mask + gravity score per segment</a:t>
            </a:r>
          </a:p>
        </p:txBody>
      </p:sp>
      <p:sp>
        <p:nvSpPr>
          <p:cNvPr id="22" name="arrow"/>
          <p:cNvSpPr/>
          <p:nvPr/>
        </p:nvSpPr>
        <p:spPr>
          <a:xfrm>
            <a:off x="9385935" y="2162175"/>
            <a:ext cx="95250" cy="171450"/>
          </a:xfrm>
          <a:prstGeom prst="rightArrow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</p:sp>
      <p:sp>
        <p:nvSpPr>
          <p:cNvPr id="23" name="rect"/>
          <p:cNvSpPr/>
          <p:nvPr/>
        </p:nvSpPr>
        <p:spPr>
          <a:xfrm>
            <a:off x="9509760" y="1638300"/>
            <a:ext cx="207264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24" name="text"/>
          <p:cNvSpPr txBox="1"/>
          <p:nvPr/>
        </p:nvSpPr>
        <p:spPr>
          <a:xfrm>
            <a:off x="9605010" y="1752600"/>
            <a:ext cx="188214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400" b="1" dirty="0">
                <a:solidFill>
                  <a:srgbClr val="111827"/>
                </a:solidFill>
                <a:latin typeface="Aptos"/>
                <a:cs typeface="Aptos"/>
              </a:rPr>
              <a:t>Validation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9605010" y="2038350"/>
            <a:ext cx="1882140" cy="723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100" dirty="0">
                <a:solidFill>
                  <a:srgbClr val="5B6472"/>
                </a:solidFill>
                <a:latin typeface="Aptos"/>
                <a:cs typeface="Aptos"/>
              </a:rPr>
              <a:t>point accuracy, precision/recall/F1, runtime</a:t>
            </a:r>
          </a:p>
        </p:txBody>
      </p:sp>
      <p:sp>
        <p:nvSpPr>
          <p:cNvPr id="26" name="rect"/>
          <p:cNvSpPr/>
          <p:nvPr/>
        </p:nvSpPr>
        <p:spPr>
          <a:xfrm>
            <a:off x="609600" y="3143250"/>
            <a:ext cx="1971675" cy="304800"/>
          </a:xfrm>
          <a:prstGeom prst="rect">
            <a:avLst/>
          </a:prstGeom>
          <a:solidFill>
            <a:srgbClr val="101418"/>
          </a:solidFill>
          <a:ln w="9525">
            <a:solidFill>
              <a:srgbClr val="101418"/>
            </a:solidFill>
          </a:ln>
        </p:spPr>
      </p:sp>
      <p:sp>
        <p:nvSpPr>
          <p:cNvPr id="27" name="text"/>
          <p:cNvSpPr txBox="1"/>
          <p:nvPr/>
        </p:nvSpPr>
        <p:spPr>
          <a:xfrm>
            <a:off x="685800" y="3200400"/>
            <a:ext cx="1819275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ptos"/>
                <a:cs typeface="Aptos"/>
              </a:rPr>
              <a:t>Design decision</a:t>
            </a:r>
          </a:p>
        </p:txBody>
      </p:sp>
      <p:sp>
        <p:nvSpPr>
          <p:cNvPr id="28" name="rect"/>
          <p:cNvSpPr/>
          <p:nvPr/>
        </p:nvSpPr>
        <p:spPr>
          <a:xfrm>
            <a:off x="2581275" y="3143250"/>
            <a:ext cx="4600575" cy="304800"/>
          </a:xfrm>
          <a:prstGeom prst="rect">
            <a:avLst/>
          </a:prstGeom>
          <a:solidFill>
            <a:srgbClr val="101418"/>
          </a:solidFill>
          <a:ln w="9525">
            <a:solidFill>
              <a:srgbClr val="101418"/>
            </a:solidFill>
          </a:ln>
        </p:spPr>
      </p:sp>
      <p:sp>
        <p:nvSpPr>
          <p:cNvPr id="29" name="text"/>
          <p:cNvSpPr txBox="1"/>
          <p:nvPr/>
        </p:nvSpPr>
        <p:spPr>
          <a:xfrm>
            <a:off x="2657475" y="3200400"/>
            <a:ext cx="4448175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ptos"/>
                <a:cs typeface="Aptos"/>
              </a:rPr>
              <a:t>Choice used (and measured)</a:t>
            </a:r>
          </a:p>
        </p:txBody>
      </p:sp>
      <p:sp>
        <p:nvSpPr>
          <p:cNvPr id="30" name="rect"/>
          <p:cNvSpPr/>
          <p:nvPr/>
        </p:nvSpPr>
        <p:spPr>
          <a:xfrm>
            <a:off x="609600" y="3448050"/>
            <a:ext cx="1971675" cy="4038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685800" y="3495675"/>
            <a:ext cx="1819275" cy="3276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111827"/>
                </a:solidFill>
                <a:latin typeface="Aptos"/>
                <a:cs typeface="Aptos"/>
              </a:rPr>
              <a:t>Gravity score</a:t>
            </a:r>
          </a:p>
        </p:txBody>
      </p:sp>
      <p:sp>
        <p:nvSpPr>
          <p:cNvPr id="32" name="rect"/>
          <p:cNvSpPr/>
          <p:nvPr/>
        </p:nvSpPr>
        <p:spPr>
          <a:xfrm>
            <a:off x="2581275" y="3448050"/>
            <a:ext cx="4600575" cy="4038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33" name="text"/>
          <p:cNvSpPr txBox="1"/>
          <p:nvPr/>
        </p:nvSpPr>
        <p:spPr>
          <a:xfrm>
            <a:off x="2657475" y="3495675"/>
            <a:ext cx="4448175" cy="3276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grad / (d^2 + 1): bounded at d = 0; gradient-only vs gradient/distance compared</a:t>
            </a:r>
          </a:p>
        </p:txBody>
      </p:sp>
      <p:sp>
        <p:nvSpPr>
          <p:cNvPr id="34" name="rect"/>
          <p:cNvSpPr/>
          <p:nvPr/>
        </p:nvSpPr>
        <p:spPr>
          <a:xfrm>
            <a:off x="609600" y="3851910"/>
            <a:ext cx="1971675" cy="403860"/>
          </a:xfrm>
          <a:prstGeom prst="rect">
            <a:avLst/>
          </a:prstGeom>
          <a:solidFill>
            <a:srgbClr val="F1F5F2"/>
          </a:solidFill>
          <a:ln w="9525">
            <a:solidFill>
              <a:srgbClr val="D7D7CC"/>
            </a:solidFill>
          </a:ln>
        </p:spPr>
      </p:sp>
      <p:sp>
        <p:nvSpPr>
          <p:cNvPr id="35" name="text"/>
          <p:cNvSpPr txBox="1"/>
          <p:nvPr/>
        </p:nvSpPr>
        <p:spPr>
          <a:xfrm>
            <a:off x="685800" y="3899535"/>
            <a:ext cx="1819275" cy="3276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111827"/>
                </a:solidFill>
                <a:latin typeface="Aptos"/>
                <a:cs typeface="Aptos"/>
              </a:rPr>
              <a:t>Point ordering</a:t>
            </a:r>
          </a:p>
        </p:txBody>
      </p:sp>
      <p:sp>
        <p:nvSpPr>
          <p:cNvPr id="36" name="rect"/>
          <p:cNvSpPr/>
          <p:nvPr/>
        </p:nvSpPr>
        <p:spPr>
          <a:xfrm>
            <a:off x="2581275" y="3851910"/>
            <a:ext cx="4600575" cy="403860"/>
          </a:xfrm>
          <a:prstGeom prst="rect">
            <a:avLst/>
          </a:prstGeom>
          <a:solidFill>
            <a:srgbClr val="F1F5F2"/>
          </a:solidFill>
          <a:ln w="9525">
            <a:solidFill>
              <a:srgbClr val="D7D7CC"/>
            </a:solidFill>
          </a:ln>
        </p:spPr>
      </p:sp>
      <p:sp>
        <p:nvSpPr>
          <p:cNvPr id="37" name="text"/>
          <p:cNvSpPr txBox="1"/>
          <p:nvPr/>
        </p:nvSpPr>
        <p:spPr>
          <a:xfrm>
            <a:off x="2657475" y="3899535"/>
            <a:ext cx="4448175" cy="3276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topological insertion order (angle sort chords across the notch)</a:t>
            </a:r>
          </a:p>
        </p:txBody>
      </p:sp>
      <p:sp>
        <p:nvSpPr>
          <p:cNvPr id="38" name="rect"/>
          <p:cNvSpPr/>
          <p:nvPr/>
        </p:nvSpPr>
        <p:spPr>
          <a:xfrm>
            <a:off x="609600" y="4255770"/>
            <a:ext cx="1971675" cy="4038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39" name="text"/>
          <p:cNvSpPr txBox="1"/>
          <p:nvPr/>
        </p:nvSpPr>
        <p:spPr>
          <a:xfrm>
            <a:off x="685800" y="4303395"/>
            <a:ext cx="1819275" cy="3276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111827"/>
                </a:solidFill>
                <a:latin typeface="Aptos"/>
                <a:cs typeface="Aptos"/>
              </a:rPr>
              <a:t>Refinement rule</a:t>
            </a:r>
          </a:p>
        </p:txBody>
      </p:sp>
      <p:sp>
        <p:nvSpPr>
          <p:cNvPr id="40" name="rect"/>
          <p:cNvSpPr/>
          <p:nvPr/>
        </p:nvSpPr>
        <p:spPr>
          <a:xfrm>
            <a:off x="2581275" y="4255770"/>
            <a:ext cx="4600575" cy="4038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41" name="text"/>
          <p:cNvSpPr txBox="1"/>
          <p:nvPr/>
        </p:nvSpPr>
        <p:spPr>
          <a:xfrm>
            <a:off x="2657475" y="4303395"/>
            <a:ext cx="4448175" cy="3276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farthest-from-center, consistent with the initial rays</a:t>
            </a:r>
          </a:p>
        </p:txBody>
      </p:sp>
      <p:sp>
        <p:nvSpPr>
          <p:cNvPr id="42" name="rect"/>
          <p:cNvSpPr/>
          <p:nvPr/>
        </p:nvSpPr>
        <p:spPr>
          <a:xfrm>
            <a:off x="609600" y="4659630"/>
            <a:ext cx="1971675" cy="403860"/>
          </a:xfrm>
          <a:prstGeom prst="rect">
            <a:avLst/>
          </a:prstGeom>
          <a:solidFill>
            <a:srgbClr val="F1F5F2"/>
          </a:solidFill>
          <a:ln w="9525">
            <a:solidFill>
              <a:srgbClr val="D7D7CC"/>
            </a:solidFill>
          </a:ln>
        </p:spPr>
      </p:sp>
      <p:sp>
        <p:nvSpPr>
          <p:cNvPr id="43" name="text"/>
          <p:cNvSpPr txBox="1"/>
          <p:nvPr/>
        </p:nvSpPr>
        <p:spPr>
          <a:xfrm>
            <a:off x="685800" y="4707255"/>
            <a:ext cx="1819275" cy="3276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111827"/>
                </a:solidFill>
                <a:latin typeface="Aptos"/>
                <a:cs typeface="Aptos"/>
              </a:rPr>
              <a:t>Center of gravity</a:t>
            </a:r>
          </a:p>
        </p:txBody>
      </p:sp>
      <p:sp>
        <p:nvSpPr>
          <p:cNvPr id="44" name="rect"/>
          <p:cNvSpPr/>
          <p:nvPr/>
        </p:nvSpPr>
        <p:spPr>
          <a:xfrm>
            <a:off x="2581275" y="4659630"/>
            <a:ext cx="4600575" cy="403860"/>
          </a:xfrm>
          <a:prstGeom prst="rect">
            <a:avLst/>
          </a:prstGeom>
          <a:solidFill>
            <a:srgbClr val="F1F5F2"/>
          </a:solidFill>
          <a:ln w="9525">
            <a:solidFill>
              <a:srgbClr val="D7D7CC"/>
            </a:solidFill>
          </a:ln>
        </p:spPr>
      </p:sp>
      <p:sp>
        <p:nvSpPr>
          <p:cNvPr id="45" name="text"/>
          <p:cNvSpPr txBox="1"/>
          <p:nvPr/>
        </p:nvSpPr>
        <p:spPr>
          <a:xfrm>
            <a:off x="2657475" y="4707255"/>
            <a:ext cx="4448175" cy="3276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contrast-weighted moments; raw moments biased by non-zero background</a:t>
            </a:r>
          </a:p>
        </p:txBody>
      </p:sp>
      <p:sp>
        <p:nvSpPr>
          <p:cNvPr id="46" name="rect"/>
          <p:cNvSpPr/>
          <p:nvPr/>
        </p:nvSpPr>
        <p:spPr>
          <a:xfrm>
            <a:off x="609600" y="5063490"/>
            <a:ext cx="1971675" cy="4038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47" name="text"/>
          <p:cNvSpPr txBox="1"/>
          <p:nvPr/>
        </p:nvSpPr>
        <p:spPr>
          <a:xfrm>
            <a:off x="685800" y="5111115"/>
            <a:ext cx="1819275" cy="3276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111827"/>
                </a:solidFill>
                <a:latin typeface="Aptos"/>
                <a:cs typeface="Aptos"/>
              </a:rPr>
              <a:t>Closure</a:t>
            </a:r>
          </a:p>
        </p:txBody>
      </p:sp>
      <p:sp>
        <p:nvSpPr>
          <p:cNvPr id="48" name="rect"/>
          <p:cNvSpPr/>
          <p:nvPr/>
        </p:nvSpPr>
        <p:spPr>
          <a:xfrm>
            <a:off x="2581275" y="5063490"/>
            <a:ext cx="4600575" cy="4038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49" name="text"/>
          <p:cNvSpPr txBox="1"/>
          <p:nvPr/>
        </p:nvSpPr>
        <p:spPr>
          <a:xfrm>
            <a:off x="2657475" y="5111115"/>
            <a:ext cx="4448175" cy="3276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trace every neighboring pair, including last -&gt; first</a:t>
            </a:r>
          </a:p>
        </p:txBody>
      </p:sp>
      <p:sp>
        <p:nvSpPr>
          <p:cNvPr id="50" name="rect"/>
          <p:cNvSpPr/>
          <p:nvPr/>
        </p:nvSpPr>
        <p:spPr>
          <a:xfrm>
            <a:off x="7524750" y="3143250"/>
            <a:ext cx="4000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51" name="rect"/>
          <p:cNvSpPr/>
          <p:nvPr/>
        </p:nvSpPr>
        <p:spPr>
          <a:xfrm>
            <a:off x="7524750" y="3143250"/>
            <a:ext cx="57150" cy="1104900"/>
          </a:xfrm>
          <a:prstGeom prst="rect">
            <a:avLst/>
          </a:prstGeom>
          <a:solidFill>
            <a:srgbClr val="1D4ED8"/>
          </a:solidFill>
          <a:ln w="9525">
            <a:solidFill>
              <a:srgbClr val="1D4ED8"/>
            </a:solidFill>
          </a:ln>
        </p:spPr>
      </p:sp>
      <p:sp>
        <p:nvSpPr>
          <p:cNvPr id="52" name="text"/>
          <p:cNvSpPr txBox="1"/>
          <p:nvPr/>
        </p:nvSpPr>
        <p:spPr>
          <a:xfrm>
            <a:off x="7696200" y="3276600"/>
            <a:ext cx="37147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1" dirty="0">
                <a:solidFill>
                  <a:srgbClr val="111827"/>
                </a:solidFill>
                <a:latin typeface="Aptos"/>
                <a:cs typeface="Aptos"/>
              </a:rPr>
              <a:t>Metrics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7696200" y="3562350"/>
            <a:ext cx="3695700" cy="571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IEPS accuracy (points within 2 px of true contour), neighbor spacing mean/std, tolerance-based precision / recall / F1, and IEPS + SCF runtime per case.</a:t>
            </a:r>
          </a:p>
        </p:txBody>
      </p:sp>
      <p:sp>
        <p:nvSpPr>
          <p:cNvPr id="54" name="rect"/>
          <p:cNvSpPr/>
          <p:nvPr/>
        </p:nvSpPr>
        <p:spPr>
          <a:xfrm>
            <a:off x="7524750" y="4400550"/>
            <a:ext cx="40005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55" name="rect"/>
          <p:cNvSpPr/>
          <p:nvPr/>
        </p:nvSpPr>
        <p:spPr>
          <a:xfrm>
            <a:off x="7524750" y="4400550"/>
            <a:ext cx="57150" cy="10668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</p:sp>
      <p:sp>
        <p:nvSpPr>
          <p:cNvPr id="56" name="text"/>
          <p:cNvSpPr txBox="1"/>
          <p:nvPr/>
        </p:nvSpPr>
        <p:spPr>
          <a:xfrm>
            <a:off x="7696200" y="4533900"/>
            <a:ext cx="37147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1" dirty="0">
                <a:solidFill>
                  <a:srgbClr val="111827"/>
                </a:solidFill>
                <a:latin typeface="Aptos"/>
                <a:cs typeface="Aptos"/>
              </a:rPr>
              <a:t>Parameter study (extension)</a:t>
            </a:r>
          </a:p>
        </p:txBody>
      </p:sp>
      <p:sp>
        <p:nvSpPr>
          <p:cNvPr id="57" name="text"/>
          <p:cNvSpPr txBox="1"/>
          <p:nvPr/>
        </p:nvSpPr>
        <p:spPr>
          <a:xfrm>
            <a:off x="7696200" y="4819650"/>
            <a:ext cx="36957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Threshold 40/64/90; 4 vs 8 rays; 2 vs 3 iterations; stop tolerance 1-3 px; score formula; point order; refinement rule; three noise levels.</a:t>
            </a:r>
          </a:p>
        </p:txBody>
      </p:sp>
      <p:sp>
        <p:nvSpPr>
          <p:cNvPr id="58" name="text"/>
          <p:cNvSpPr txBox="1"/>
          <p:nvPr/>
        </p:nvSpPr>
        <p:spPr>
          <a:xfrm>
            <a:off x="609600" y="5676900"/>
            <a:ext cx="109728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5B6472"/>
                </a:solidFill>
                <a:latin typeface="Aptos"/>
                <a:cs typeface="Aptos"/>
              </a:rPr>
              <a:t>Everything is regenerated by one command (python main.py --run all); slides and report read the same CSV tables.</a:t>
            </a:r>
          </a:p>
        </p:txBody>
      </p:sp>
      <p:sp>
        <p:nvSpPr>
          <p:cNvPr id="59" name="text"/>
          <p:cNvSpPr txBox="1"/>
          <p:nvPr/>
        </p:nvSpPr>
        <p:spPr>
          <a:xfrm>
            <a:off x="609600" y="6553200"/>
            <a:ext cx="5905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00" dirty="0">
                <a:solidFill>
                  <a:srgbClr val="727B85"/>
                </a:solidFill>
                <a:latin typeface="Aptos"/>
                <a:cs typeface="Aptos"/>
              </a:rPr>
              <a:t>IEPS + SCF reproducibility study  |  Parth Goswami  |  06 / 10</a:t>
            </a:r>
          </a:p>
        </p:txBody>
      </p:sp>
      <p:sp>
        <p:nvSpPr>
          <p:cNvPr id="60" name="text"/>
          <p:cNvSpPr txBox="1"/>
          <p:nvPr/>
        </p:nvSpPr>
        <p:spPr>
          <a:xfrm>
            <a:off x="7239000" y="6553200"/>
            <a:ext cx="4343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dirty="0">
                <a:solidFill>
                  <a:srgbClr val="727B85"/>
                </a:solidFill>
                <a:latin typeface="Aptos"/>
                <a:cs typeface="Aptos"/>
              </a:rPr>
              <a:t>Hsu et al., ICARCV 2010 [1]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 w="9525">
            <a:solidFill>
              <a:srgbClr val="F7F7F2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609600" y="3238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1" dirty="0">
                <a:solidFill>
                  <a:srgbClr val="0F766E"/>
                </a:solidFill>
                <a:latin typeface="Aptos"/>
                <a:cs typeface="Aptos"/>
              </a:rPr>
              <a:t>CODE 1/2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09600" y="552450"/>
            <a:ext cx="109728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900" b="1" dirty="0">
                <a:solidFill>
                  <a:srgbClr val="111827"/>
                </a:solidFill>
                <a:latin typeface="Aptos"/>
                <a:cs typeface="Aptos"/>
              </a:rPr>
              <a:t>IEPS core: rays, then midpoint-normal refinement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09600" y="9906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5B6472"/>
                </a:solidFill>
                <a:latin typeface="Aptos"/>
                <a:cs typeface="Aptos"/>
              </a:rPr>
              <a:t>Condensed from src/ieps.py - the loop structure mirrors the paper's equations directly.</a:t>
            </a:r>
          </a:p>
        </p:txBody>
      </p:sp>
      <p:sp>
        <p:nvSpPr>
          <p:cNvPr id="6" name="rect"/>
          <p:cNvSpPr/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7D7CC"/>
          </a:solidFill>
          <a:ln w="9525">
            <a:solidFill>
              <a:srgbClr val="D7D7CC"/>
            </a:solidFill>
          </a:ln>
        </p:spPr>
      </p:sp>
      <p:sp>
        <p:nvSpPr>
          <p:cNvPr id="7" name="rect"/>
          <p:cNvSpPr/>
          <p:nvPr/>
        </p:nvSpPr>
        <p:spPr>
          <a:xfrm>
            <a:off x="609600" y="1600200"/>
            <a:ext cx="10972800" cy="4457700"/>
          </a:xfrm>
          <a:prstGeom prst="rect">
            <a:avLst/>
          </a:prstGeom>
          <a:solidFill>
            <a:srgbClr val="101826"/>
          </a:solidFill>
          <a:ln w="9525">
            <a:solidFill>
              <a:srgbClr val="101826"/>
            </a:solidFill>
          </a:ln>
        </p:spPr>
      </p:sp>
      <p:sp>
        <p:nvSpPr>
          <p:cNvPr id="8" name="text"/>
          <p:cNvSpPr txBox="1"/>
          <p:nvPr/>
        </p:nvSpPr>
        <p:spPr>
          <a:xfrm>
            <a:off x="819150" y="1752600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7C9A8E"/>
                </a:solidFill>
                <a:latin typeface="Consolas"/>
                <a:cs typeface="Consolas"/>
              </a:rPr>
              <a:t># 1) Initial rays: farthest strong-gradient pixel on each of N = 4 scan lines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819150" y="1933575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for i in range(initial_scan_lines):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819150" y="2114550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angle = 2.0 * math.pi * i / initial_scan_lines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819150" y="2295525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ray = sample_ray_from_center(center, angle, image.shape)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19150" y="2476500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candidates = [p for p in ray if gradient[p[1], p[0]] &gt;= threshold]   # Eq. (3)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819150" y="2657475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if candidates: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819150" y="2838450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    points.append(max(candidates, key=lambda p: distance(p, center)))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819150" y="3019425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/>
            </a:r>
          </a:p>
        </p:txBody>
      </p:sp>
      <p:sp>
        <p:nvSpPr>
          <p:cNvPr id="16" name="text"/>
          <p:cNvSpPr txBox="1"/>
          <p:nvPr/>
        </p:nvSpPr>
        <p:spPr>
          <a:xfrm>
            <a:off x="819150" y="3200400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7C9A8E"/>
                </a:solidFill>
                <a:latin typeface="Consolas"/>
                <a:cs typeface="Consolas"/>
              </a:rPr>
              <a:t># 2) Refinement: insert one new point between every neighboring pair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19150" y="3381375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for iteration in range(1, iterations + 1):                    # p = 1 .. 3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819150" y="3562350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radius = max(3.0, default_scan_distance / 2.0 ** iteration)   # Eq. (7)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819150" y="3743325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next_points = []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819150" y="3924300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for idx in range(len(points)):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819150" y="4105275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    p1, p2 = points[idx], points[(idx + 1) % len(points)]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819150" y="4286250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    mid = midpoint(p1, p2)                                    # Eq. (5)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19150" y="4467225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    normal = normal_vector(p1, p2)                            # Eq. (6)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819150" y="4648200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    scan = sample_line_through_point(mid, normal, image.shape, radius)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819150" y="4829175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    selected = select_edge_candidate(scan, gradient, threshold, fallback)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819150" y="5010150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    next_points.append(p1)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819150" y="5191125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    if selected is not None: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819150" y="5372100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        next_points.append(selected)    # new point stays between its parents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19150" y="5553075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points = unique_preserve_order(next_points)      # N * 2**p  -&gt;  32 points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609600" y="6134100"/>
            <a:ext cx="109728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5B6472"/>
                </a:solidFill>
                <a:latin typeface="Aptos"/>
                <a:cs typeface="Aptos"/>
              </a:rPr>
              <a:t>Insertion order is preserved (topological): a refined point remains between the pair that created it, which keeps SCF segments short and local.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609600" y="6553200"/>
            <a:ext cx="5905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00" dirty="0">
                <a:solidFill>
                  <a:srgbClr val="727B85"/>
                </a:solidFill>
                <a:latin typeface="Aptos"/>
                <a:cs typeface="Aptos"/>
              </a:rPr>
              <a:t>IEPS + SCF reproducibility study  |  Parth Goswami  |  07 / 10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7239000" y="6553200"/>
            <a:ext cx="4343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dirty="0">
                <a:solidFill>
                  <a:srgbClr val="727B85"/>
                </a:solidFill>
                <a:latin typeface="Aptos"/>
                <a:cs typeface="Aptos"/>
              </a:rPr>
              <a:t>Hsu et al., ICARCV 2010 [1]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 w="9525">
            <a:solidFill>
              <a:srgbClr val="F7F7F2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609600" y="3238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1" dirty="0">
                <a:solidFill>
                  <a:srgbClr val="0F766E"/>
                </a:solidFill>
                <a:latin typeface="Aptos"/>
                <a:cs typeface="Aptos"/>
              </a:rPr>
              <a:t>CODE 2/2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09600" y="552450"/>
            <a:ext cx="109728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900" b="1" dirty="0">
                <a:solidFill>
                  <a:srgbClr val="111827"/>
                </a:solidFill>
                <a:latin typeface="Aptos"/>
                <a:cs typeface="Aptos"/>
              </a:rPr>
              <a:t>SCF core: masked greedy tracing with a gravity score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09600" y="9906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5B6472"/>
                </a:solidFill>
                <a:latin typeface="Aptos"/>
                <a:cs typeface="Aptos"/>
              </a:rPr>
              <a:t>Condensed from src/scf.py - every rule the paper leaves open is an explicit line of code here.</a:t>
            </a:r>
          </a:p>
        </p:txBody>
      </p:sp>
      <p:sp>
        <p:nvSpPr>
          <p:cNvPr id="6" name="rect"/>
          <p:cNvSpPr/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7D7CC"/>
          </a:solidFill>
          <a:ln w="9525">
            <a:solidFill>
              <a:srgbClr val="D7D7CC"/>
            </a:solidFill>
          </a:ln>
        </p:spPr>
      </p:sp>
      <p:sp>
        <p:nvSpPr>
          <p:cNvPr id="7" name="rect"/>
          <p:cNvSpPr/>
          <p:nvPr/>
        </p:nvSpPr>
        <p:spPr>
          <a:xfrm>
            <a:off x="609600" y="1600200"/>
            <a:ext cx="10972800" cy="4457700"/>
          </a:xfrm>
          <a:prstGeom prst="rect">
            <a:avLst/>
          </a:prstGeom>
          <a:solidFill>
            <a:srgbClr val="101826"/>
          </a:solidFill>
          <a:ln w="9525">
            <a:solidFill>
              <a:srgbClr val="101826"/>
            </a:solidFill>
          </a:ln>
        </p:spPr>
      </p:sp>
      <p:sp>
        <p:nvSpPr>
          <p:cNvPr id="8" name="text"/>
          <p:cNvSpPr txBox="1"/>
          <p:nvPr/>
        </p:nvSpPr>
        <p:spPr>
          <a:xfrm>
            <a:off x="819150" y="1752600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def trace_segment_greedy(gradient, start, target, tol=2.0):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819150" y="1933575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max_steps = max(5, math.ceil(3.0 * distance(start, target)))   # step guard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819150" y="2114550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current, path, visited = start, [start], {start}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819150" y="2295525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for _ in range(max_steps):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19150" y="2476500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    if distance(current, target) &lt;= tol:                # explicit stop rule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819150" y="2657475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        break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819150" y="2838450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    cands = directional_candidates(current, target)     # 3-pixel mask, Fig. 4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819150" y="3019425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    cands = [p for p in cands if p not in visited] or cands    # no loops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819150" y="3200400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    if max(grad(p) for p in cands) &lt; 1.0:               # broken edge?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19150" y="3381375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        best = min(cands, key=lambda p: distance(p, target))   # fallback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819150" y="3562350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    else: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819150" y="3743325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        best = max(cands, key=lambda p: (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819150" y="3924300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            grad(p) / (distance(p, target) ** 2 + 1.0),  # gravity ~ Eq. (9)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819150" y="4105275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            grad(p),                                     # tie-break: gradient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819150" y="4286250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            -distance(p, target)))                       # tie-break: distance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19150" y="4467225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    current = best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819150" y="4648200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    path.append(best)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819150" y="4829175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    visited.add(best)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819150" y="5010150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return path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819150" y="5191125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/>
            </a:r>
          </a:p>
        </p:txBody>
      </p:sp>
      <p:sp>
        <p:nvSpPr>
          <p:cNvPr id="28" name="text"/>
          <p:cNvSpPr txBox="1"/>
          <p:nvPr/>
        </p:nvSpPr>
        <p:spPr>
          <a:xfrm>
            <a:off x="819150" y="5372100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7C9A8E"/>
                </a:solidFill>
                <a:latin typeface="Consolas"/>
                <a:cs typeface="Consolas"/>
              </a:rPr>
              <a:t># closed contour: trace every neighboring pair, including last -&gt; first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19150" y="5553075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for i in range(len(points)):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819150" y="5734050"/>
            <a:ext cx="105537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DCE7F0"/>
                </a:solidFill>
                <a:latin typeface="Consolas"/>
                <a:cs typeface="Consolas"/>
              </a:rPr>
              <a:t>    contour += trace_segment_greedy(grad, points[i], points[(i + 1) % len(points)])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609600" y="6134100"/>
            <a:ext cx="109728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5B6472"/>
                </a:solidFill>
                <a:latin typeface="Aptos"/>
                <a:cs typeface="Aptos"/>
              </a:rPr>
              <a:t>With these rules fixed, all 32/32 segments reach their target on every main case - the 'closed contour?' diamond of the paper becomes a measurable property.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609600" y="6553200"/>
            <a:ext cx="5905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00" dirty="0">
                <a:solidFill>
                  <a:srgbClr val="727B85"/>
                </a:solidFill>
                <a:latin typeface="Aptos"/>
                <a:cs typeface="Aptos"/>
              </a:rPr>
              <a:t>IEPS + SCF reproducibility study  |  Parth Goswami  |  08 / 10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7239000" y="6553200"/>
            <a:ext cx="4343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dirty="0">
                <a:solidFill>
                  <a:srgbClr val="727B85"/>
                </a:solidFill>
                <a:latin typeface="Aptos"/>
                <a:cs typeface="Aptos"/>
              </a:rPr>
              <a:t>Hsu et al., ICARCV 2010 [1]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 w="9525">
            <a:solidFill>
              <a:srgbClr val="F7F7F2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609600" y="3238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1" dirty="0">
                <a:solidFill>
                  <a:srgbClr val="0F766E"/>
                </a:solidFill>
                <a:latin typeface="Aptos"/>
                <a:cs typeface="Aptos"/>
              </a:rPr>
              <a:t>RESULTS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09600" y="552450"/>
            <a:ext cx="109728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900" b="1" dirty="0">
                <a:solidFill>
                  <a:srgbClr val="111827"/>
                </a:solidFill>
                <a:latin typeface="Aptos"/>
                <a:cs typeface="Aptos"/>
              </a:rPr>
              <a:t>Circles reproduce perfectly; the U-shape stresses the assumptions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09600" y="9906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5B6472"/>
                </a:solidFill>
                <a:latin typeface="Aptos"/>
                <a:cs typeface="Aptos"/>
              </a:rPr>
              <a:t>All values from results/tables/*.csv, regenerated by main.py; tolerance 2 px, fixed noise seeds.</a:t>
            </a:r>
          </a:p>
        </p:txBody>
      </p:sp>
      <p:sp>
        <p:nvSpPr>
          <p:cNvPr id="6" name="rect"/>
          <p:cNvSpPr/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7D7CC"/>
          </a:solidFill>
          <a:ln w="9525">
            <a:solidFill>
              <a:srgbClr val="D7D7CC"/>
            </a:solidFill>
          </a:ln>
        </p:spPr>
      </p:sp>
      <p:sp>
        <p:nvSpPr>
          <p:cNvPr id="7" name="rect"/>
          <p:cNvSpPr/>
          <p:nvPr/>
        </p:nvSpPr>
        <p:spPr>
          <a:xfrm>
            <a:off x="609600" y="1676400"/>
            <a:ext cx="2194560" cy="304800"/>
          </a:xfrm>
          <a:prstGeom prst="rect">
            <a:avLst/>
          </a:prstGeom>
          <a:solidFill>
            <a:srgbClr val="101418"/>
          </a:solidFill>
          <a:ln w="9525">
            <a:solidFill>
              <a:srgbClr val="101418"/>
            </a:solidFill>
          </a:ln>
        </p:spPr>
      </p:sp>
      <p:sp>
        <p:nvSpPr>
          <p:cNvPr id="8" name="text"/>
          <p:cNvSpPr txBox="1"/>
          <p:nvPr/>
        </p:nvSpPr>
        <p:spPr>
          <a:xfrm>
            <a:off x="685800" y="1733550"/>
            <a:ext cx="2042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ptos"/>
                <a:cs typeface="Aptos"/>
              </a:rPr>
              <a:t>Case</a:t>
            </a:r>
          </a:p>
        </p:txBody>
      </p:sp>
      <p:sp>
        <p:nvSpPr>
          <p:cNvPr id="9" name="rect"/>
          <p:cNvSpPr/>
          <p:nvPr/>
        </p:nvSpPr>
        <p:spPr>
          <a:xfrm>
            <a:off x="2804160" y="1676400"/>
            <a:ext cx="1097280" cy="304800"/>
          </a:xfrm>
          <a:prstGeom prst="rect">
            <a:avLst/>
          </a:prstGeom>
          <a:solidFill>
            <a:srgbClr val="101418"/>
          </a:solidFill>
          <a:ln w="9525">
            <a:solidFill>
              <a:srgbClr val="101418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2880360" y="1733550"/>
            <a:ext cx="9448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ptos"/>
                <a:cs typeface="Aptos"/>
              </a:rPr>
              <a:t>IEPS pts</a:t>
            </a:r>
          </a:p>
        </p:txBody>
      </p:sp>
      <p:sp>
        <p:nvSpPr>
          <p:cNvPr id="11" name="rect"/>
          <p:cNvSpPr/>
          <p:nvPr/>
        </p:nvSpPr>
        <p:spPr>
          <a:xfrm>
            <a:off x="3901440" y="1676400"/>
            <a:ext cx="1426464" cy="304800"/>
          </a:xfrm>
          <a:prstGeom prst="rect">
            <a:avLst/>
          </a:prstGeom>
          <a:solidFill>
            <a:srgbClr val="101418"/>
          </a:solidFill>
          <a:ln w="9525">
            <a:solidFill>
              <a:srgbClr val="101418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3977640" y="1733550"/>
            <a:ext cx="127406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ptos"/>
                <a:cs typeface="Aptos"/>
              </a:rPr>
              <a:t>IEPS acc</a:t>
            </a:r>
          </a:p>
        </p:txBody>
      </p:sp>
      <p:sp>
        <p:nvSpPr>
          <p:cNvPr id="13" name="rect"/>
          <p:cNvSpPr/>
          <p:nvPr/>
        </p:nvSpPr>
        <p:spPr>
          <a:xfrm>
            <a:off x="5327904" y="1676400"/>
            <a:ext cx="1536192" cy="304800"/>
          </a:xfrm>
          <a:prstGeom prst="rect">
            <a:avLst/>
          </a:prstGeom>
          <a:solidFill>
            <a:srgbClr val="101418"/>
          </a:solidFill>
          <a:ln w="9525">
            <a:solidFill>
              <a:srgbClr val="101418"/>
            </a:solidFill>
          </a:ln>
        </p:spPr>
      </p:sp>
      <p:sp>
        <p:nvSpPr>
          <p:cNvPr id="14" name="text"/>
          <p:cNvSpPr txBox="1"/>
          <p:nvPr/>
        </p:nvSpPr>
        <p:spPr>
          <a:xfrm>
            <a:off x="5404104" y="1733550"/>
            <a:ext cx="1383792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ptos"/>
                <a:cs typeface="Aptos"/>
              </a:rPr>
              <a:t>Precision</a:t>
            </a:r>
          </a:p>
        </p:txBody>
      </p:sp>
      <p:sp>
        <p:nvSpPr>
          <p:cNvPr id="15" name="rect"/>
          <p:cNvSpPr/>
          <p:nvPr/>
        </p:nvSpPr>
        <p:spPr>
          <a:xfrm>
            <a:off x="6864096" y="1676400"/>
            <a:ext cx="1426464" cy="304800"/>
          </a:xfrm>
          <a:prstGeom prst="rect">
            <a:avLst/>
          </a:prstGeom>
          <a:solidFill>
            <a:srgbClr val="101418"/>
          </a:solidFill>
          <a:ln w="9525">
            <a:solidFill>
              <a:srgbClr val="101418"/>
            </a:solidFill>
          </a:ln>
        </p:spPr>
      </p:sp>
      <p:sp>
        <p:nvSpPr>
          <p:cNvPr id="16" name="text"/>
          <p:cNvSpPr txBox="1"/>
          <p:nvPr/>
        </p:nvSpPr>
        <p:spPr>
          <a:xfrm>
            <a:off x="6940296" y="1733550"/>
            <a:ext cx="127406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ptos"/>
                <a:cs typeface="Aptos"/>
              </a:rPr>
              <a:t>Recall</a:t>
            </a:r>
          </a:p>
        </p:txBody>
      </p:sp>
      <p:sp>
        <p:nvSpPr>
          <p:cNvPr id="17" name="rect"/>
          <p:cNvSpPr/>
          <p:nvPr/>
        </p:nvSpPr>
        <p:spPr>
          <a:xfrm>
            <a:off x="8290560" y="1676400"/>
            <a:ext cx="1316736" cy="304800"/>
          </a:xfrm>
          <a:prstGeom prst="rect">
            <a:avLst/>
          </a:prstGeom>
          <a:solidFill>
            <a:srgbClr val="101418"/>
          </a:solidFill>
          <a:ln w="9525">
            <a:solidFill>
              <a:srgbClr val="101418"/>
            </a:solidFill>
          </a:ln>
        </p:spPr>
      </p:sp>
      <p:sp>
        <p:nvSpPr>
          <p:cNvPr id="18" name="text"/>
          <p:cNvSpPr txBox="1"/>
          <p:nvPr/>
        </p:nvSpPr>
        <p:spPr>
          <a:xfrm>
            <a:off x="8366760" y="1733550"/>
            <a:ext cx="1164336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ptos"/>
                <a:cs typeface="Aptos"/>
              </a:rPr>
              <a:t>F1</a:t>
            </a:r>
          </a:p>
        </p:txBody>
      </p:sp>
      <p:sp>
        <p:nvSpPr>
          <p:cNvPr id="19" name="rect"/>
          <p:cNvSpPr/>
          <p:nvPr/>
        </p:nvSpPr>
        <p:spPr>
          <a:xfrm>
            <a:off x="9607296" y="1676400"/>
            <a:ext cx="1975104" cy="304800"/>
          </a:xfrm>
          <a:prstGeom prst="rect">
            <a:avLst/>
          </a:prstGeom>
          <a:solidFill>
            <a:srgbClr val="101418"/>
          </a:solidFill>
          <a:ln w="9525">
            <a:solidFill>
              <a:srgbClr val="101418"/>
            </a:solidFill>
          </a:ln>
        </p:spPr>
      </p:sp>
      <p:sp>
        <p:nvSpPr>
          <p:cNvPr id="20" name="text"/>
          <p:cNvSpPr txBox="1"/>
          <p:nvPr/>
        </p:nvSpPr>
        <p:spPr>
          <a:xfrm>
            <a:off x="9683496" y="1733550"/>
            <a:ext cx="182270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ptos"/>
                <a:cs typeface="Aptos"/>
              </a:rPr>
              <a:t>IEPS+SCF time</a:t>
            </a:r>
          </a:p>
        </p:txBody>
      </p:sp>
      <p:sp>
        <p:nvSpPr>
          <p:cNvPr id="21" name="rect"/>
          <p:cNvSpPr/>
          <p:nvPr/>
        </p:nvSpPr>
        <p:spPr>
          <a:xfrm>
            <a:off x="609600" y="1981200"/>
            <a:ext cx="219456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22" name="text"/>
          <p:cNvSpPr txBox="1"/>
          <p:nvPr/>
        </p:nvSpPr>
        <p:spPr>
          <a:xfrm>
            <a:off x="685800" y="2028825"/>
            <a:ext cx="204216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111827"/>
                </a:solidFill>
                <a:latin typeface="Aptos"/>
                <a:cs typeface="Aptos"/>
              </a:rPr>
              <a:t>circle_clean</a:t>
            </a:r>
          </a:p>
        </p:txBody>
      </p:sp>
      <p:sp>
        <p:nvSpPr>
          <p:cNvPr id="23" name="rect"/>
          <p:cNvSpPr/>
          <p:nvPr/>
        </p:nvSpPr>
        <p:spPr>
          <a:xfrm>
            <a:off x="2804160" y="1981200"/>
            <a:ext cx="109728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24" name="text"/>
          <p:cNvSpPr txBox="1"/>
          <p:nvPr/>
        </p:nvSpPr>
        <p:spPr>
          <a:xfrm>
            <a:off x="2880360" y="2028825"/>
            <a:ext cx="94488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32</a:t>
            </a:r>
          </a:p>
        </p:txBody>
      </p:sp>
      <p:sp>
        <p:nvSpPr>
          <p:cNvPr id="25" name="rect"/>
          <p:cNvSpPr/>
          <p:nvPr/>
        </p:nvSpPr>
        <p:spPr>
          <a:xfrm>
            <a:off x="3901440" y="1981200"/>
            <a:ext cx="1426464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26" name="text"/>
          <p:cNvSpPr txBox="1"/>
          <p:nvPr/>
        </p:nvSpPr>
        <p:spPr>
          <a:xfrm>
            <a:off x="3977640" y="2028825"/>
            <a:ext cx="1274064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100.0%</a:t>
            </a:r>
          </a:p>
        </p:txBody>
      </p:sp>
      <p:sp>
        <p:nvSpPr>
          <p:cNvPr id="27" name="rect"/>
          <p:cNvSpPr/>
          <p:nvPr/>
        </p:nvSpPr>
        <p:spPr>
          <a:xfrm>
            <a:off x="5327904" y="1981200"/>
            <a:ext cx="1536192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28" name="text"/>
          <p:cNvSpPr txBox="1"/>
          <p:nvPr/>
        </p:nvSpPr>
        <p:spPr>
          <a:xfrm>
            <a:off x="5404104" y="2028825"/>
            <a:ext cx="1383792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100.0%</a:t>
            </a:r>
          </a:p>
        </p:txBody>
      </p:sp>
      <p:sp>
        <p:nvSpPr>
          <p:cNvPr id="29" name="rect"/>
          <p:cNvSpPr/>
          <p:nvPr/>
        </p:nvSpPr>
        <p:spPr>
          <a:xfrm>
            <a:off x="6864096" y="1981200"/>
            <a:ext cx="1426464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30" name="text"/>
          <p:cNvSpPr txBox="1"/>
          <p:nvPr/>
        </p:nvSpPr>
        <p:spPr>
          <a:xfrm>
            <a:off x="6940296" y="2028825"/>
            <a:ext cx="1274064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100.0%</a:t>
            </a:r>
          </a:p>
        </p:txBody>
      </p:sp>
      <p:sp>
        <p:nvSpPr>
          <p:cNvPr id="31" name="rect"/>
          <p:cNvSpPr/>
          <p:nvPr/>
        </p:nvSpPr>
        <p:spPr>
          <a:xfrm>
            <a:off x="8290560" y="1981200"/>
            <a:ext cx="1316736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32" name="text"/>
          <p:cNvSpPr txBox="1"/>
          <p:nvPr/>
        </p:nvSpPr>
        <p:spPr>
          <a:xfrm>
            <a:off x="8366760" y="2028825"/>
            <a:ext cx="1164336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100.0%</a:t>
            </a:r>
          </a:p>
        </p:txBody>
      </p:sp>
      <p:sp>
        <p:nvSpPr>
          <p:cNvPr id="33" name="rect"/>
          <p:cNvSpPr/>
          <p:nvPr/>
        </p:nvSpPr>
        <p:spPr>
          <a:xfrm>
            <a:off x="9607296" y="1981200"/>
            <a:ext cx="1975104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34" name="text"/>
          <p:cNvSpPr txBox="1"/>
          <p:nvPr/>
        </p:nvSpPr>
        <p:spPr>
          <a:xfrm>
            <a:off x="9683496" y="2028825"/>
            <a:ext cx="1822704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11.7 ms</a:t>
            </a:r>
          </a:p>
        </p:txBody>
      </p:sp>
      <p:sp>
        <p:nvSpPr>
          <p:cNvPr id="35" name="rect"/>
          <p:cNvSpPr/>
          <p:nvPr/>
        </p:nvSpPr>
        <p:spPr>
          <a:xfrm>
            <a:off x="609600" y="2324100"/>
            <a:ext cx="2194560" cy="342900"/>
          </a:xfrm>
          <a:prstGeom prst="rect">
            <a:avLst/>
          </a:prstGeom>
          <a:solidFill>
            <a:srgbClr val="F1F5F2"/>
          </a:solidFill>
          <a:ln w="9525">
            <a:solidFill>
              <a:srgbClr val="D7D7CC"/>
            </a:solidFill>
          </a:ln>
        </p:spPr>
      </p:sp>
      <p:sp>
        <p:nvSpPr>
          <p:cNvPr id="36" name="text"/>
          <p:cNvSpPr txBox="1"/>
          <p:nvPr/>
        </p:nvSpPr>
        <p:spPr>
          <a:xfrm>
            <a:off x="685800" y="2371725"/>
            <a:ext cx="204216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111827"/>
                </a:solidFill>
                <a:latin typeface="Aptos"/>
                <a:cs typeface="Aptos"/>
              </a:rPr>
              <a:t>circle_noisy</a:t>
            </a:r>
          </a:p>
        </p:txBody>
      </p:sp>
      <p:sp>
        <p:nvSpPr>
          <p:cNvPr id="37" name="rect"/>
          <p:cNvSpPr/>
          <p:nvPr/>
        </p:nvSpPr>
        <p:spPr>
          <a:xfrm>
            <a:off x="2804160" y="2324100"/>
            <a:ext cx="1097280" cy="342900"/>
          </a:xfrm>
          <a:prstGeom prst="rect">
            <a:avLst/>
          </a:prstGeom>
          <a:solidFill>
            <a:srgbClr val="F1F5F2"/>
          </a:solidFill>
          <a:ln w="9525">
            <a:solidFill>
              <a:srgbClr val="D7D7CC"/>
            </a:solidFill>
          </a:ln>
        </p:spPr>
      </p:sp>
      <p:sp>
        <p:nvSpPr>
          <p:cNvPr id="38" name="text"/>
          <p:cNvSpPr txBox="1"/>
          <p:nvPr/>
        </p:nvSpPr>
        <p:spPr>
          <a:xfrm>
            <a:off x="2880360" y="2371725"/>
            <a:ext cx="94488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32</a:t>
            </a:r>
          </a:p>
        </p:txBody>
      </p:sp>
      <p:sp>
        <p:nvSpPr>
          <p:cNvPr id="39" name="rect"/>
          <p:cNvSpPr/>
          <p:nvPr/>
        </p:nvSpPr>
        <p:spPr>
          <a:xfrm>
            <a:off x="3901440" y="2324100"/>
            <a:ext cx="1426464" cy="342900"/>
          </a:xfrm>
          <a:prstGeom prst="rect">
            <a:avLst/>
          </a:prstGeom>
          <a:solidFill>
            <a:srgbClr val="F1F5F2"/>
          </a:solidFill>
          <a:ln w="9525">
            <a:solidFill>
              <a:srgbClr val="D7D7CC"/>
            </a:solidFill>
          </a:ln>
        </p:spPr>
      </p:sp>
      <p:sp>
        <p:nvSpPr>
          <p:cNvPr id="40" name="text"/>
          <p:cNvSpPr txBox="1"/>
          <p:nvPr/>
        </p:nvSpPr>
        <p:spPr>
          <a:xfrm>
            <a:off x="3977640" y="2371725"/>
            <a:ext cx="1274064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100.0%</a:t>
            </a:r>
          </a:p>
        </p:txBody>
      </p:sp>
      <p:sp>
        <p:nvSpPr>
          <p:cNvPr id="41" name="rect"/>
          <p:cNvSpPr/>
          <p:nvPr/>
        </p:nvSpPr>
        <p:spPr>
          <a:xfrm>
            <a:off x="5327904" y="2324100"/>
            <a:ext cx="1536192" cy="342900"/>
          </a:xfrm>
          <a:prstGeom prst="rect">
            <a:avLst/>
          </a:prstGeom>
          <a:solidFill>
            <a:srgbClr val="F1F5F2"/>
          </a:solidFill>
          <a:ln w="9525">
            <a:solidFill>
              <a:srgbClr val="D7D7CC"/>
            </a:solidFill>
          </a:ln>
        </p:spPr>
      </p:sp>
      <p:sp>
        <p:nvSpPr>
          <p:cNvPr id="42" name="text"/>
          <p:cNvSpPr txBox="1"/>
          <p:nvPr/>
        </p:nvSpPr>
        <p:spPr>
          <a:xfrm>
            <a:off x="5404104" y="2371725"/>
            <a:ext cx="1383792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100.0%</a:t>
            </a:r>
          </a:p>
        </p:txBody>
      </p:sp>
      <p:sp>
        <p:nvSpPr>
          <p:cNvPr id="43" name="rect"/>
          <p:cNvSpPr/>
          <p:nvPr/>
        </p:nvSpPr>
        <p:spPr>
          <a:xfrm>
            <a:off x="6864096" y="2324100"/>
            <a:ext cx="1426464" cy="342900"/>
          </a:xfrm>
          <a:prstGeom prst="rect">
            <a:avLst/>
          </a:prstGeom>
          <a:solidFill>
            <a:srgbClr val="F1F5F2"/>
          </a:solidFill>
          <a:ln w="9525">
            <a:solidFill>
              <a:srgbClr val="D7D7CC"/>
            </a:solidFill>
          </a:ln>
        </p:spPr>
      </p:sp>
      <p:sp>
        <p:nvSpPr>
          <p:cNvPr id="44" name="text"/>
          <p:cNvSpPr txBox="1"/>
          <p:nvPr/>
        </p:nvSpPr>
        <p:spPr>
          <a:xfrm>
            <a:off x="6940296" y="2371725"/>
            <a:ext cx="1274064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100.0%</a:t>
            </a:r>
          </a:p>
        </p:txBody>
      </p:sp>
      <p:sp>
        <p:nvSpPr>
          <p:cNvPr id="45" name="rect"/>
          <p:cNvSpPr/>
          <p:nvPr/>
        </p:nvSpPr>
        <p:spPr>
          <a:xfrm>
            <a:off x="8290560" y="2324100"/>
            <a:ext cx="1316736" cy="342900"/>
          </a:xfrm>
          <a:prstGeom prst="rect">
            <a:avLst/>
          </a:prstGeom>
          <a:solidFill>
            <a:srgbClr val="F1F5F2"/>
          </a:solidFill>
          <a:ln w="9525">
            <a:solidFill>
              <a:srgbClr val="D7D7CC"/>
            </a:solidFill>
          </a:ln>
        </p:spPr>
      </p:sp>
      <p:sp>
        <p:nvSpPr>
          <p:cNvPr id="46" name="text"/>
          <p:cNvSpPr txBox="1"/>
          <p:nvPr/>
        </p:nvSpPr>
        <p:spPr>
          <a:xfrm>
            <a:off x="8366760" y="2371725"/>
            <a:ext cx="1164336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100.0%</a:t>
            </a:r>
          </a:p>
        </p:txBody>
      </p:sp>
      <p:sp>
        <p:nvSpPr>
          <p:cNvPr id="47" name="rect"/>
          <p:cNvSpPr/>
          <p:nvPr/>
        </p:nvSpPr>
        <p:spPr>
          <a:xfrm>
            <a:off x="9607296" y="2324100"/>
            <a:ext cx="1975104" cy="342900"/>
          </a:xfrm>
          <a:prstGeom prst="rect">
            <a:avLst/>
          </a:prstGeom>
          <a:solidFill>
            <a:srgbClr val="F1F5F2"/>
          </a:solidFill>
          <a:ln w="9525">
            <a:solidFill>
              <a:srgbClr val="D7D7CC"/>
            </a:solidFill>
          </a:ln>
        </p:spPr>
      </p:sp>
      <p:sp>
        <p:nvSpPr>
          <p:cNvPr id="48" name="text"/>
          <p:cNvSpPr txBox="1"/>
          <p:nvPr/>
        </p:nvSpPr>
        <p:spPr>
          <a:xfrm>
            <a:off x="9683496" y="2371725"/>
            <a:ext cx="1822704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14.4 ms</a:t>
            </a:r>
          </a:p>
        </p:txBody>
      </p:sp>
      <p:sp>
        <p:nvSpPr>
          <p:cNvPr id="49" name="rect"/>
          <p:cNvSpPr/>
          <p:nvPr/>
        </p:nvSpPr>
        <p:spPr>
          <a:xfrm>
            <a:off x="609600" y="2667000"/>
            <a:ext cx="219456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50" name="text"/>
          <p:cNvSpPr txBox="1"/>
          <p:nvPr/>
        </p:nvSpPr>
        <p:spPr>
          <a:xfrm>
            <a:off x="685800" y="2714625"/>
            <a:ext cx="204216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111827"/>
                </a:solidFill>
                <a:latin typeface="Aptos"/>
                <a:cs typeface="Aptos"/>
              </a:rPr>
              <a:t>u_shape_clean</a:t>
            </a:r>
          </a:p>
        </p:txBody>
      </p:sp>
      <p:sp>
        <p:nvSpPr>
          <p:cNvPr id="51" name="rect"/>
          <p:cNvSpPr/>
          <p:nvPr/>
        </p:nvSpPr>
        <p:spPr>
          <a:xfrm>
            <a:off x="2804160" y="2667000"/>
            <a:ext cx="109728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52" name="text"/>
          <p:cNvSpPr txBox="1"/>
          <p:nvPr/>
        </p:nvSpPr>
        <p:spPr>
          <a:xfrm>
            <a:off x="2880360" y="2714625"/>
            <a:ext cx="94488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32</a:t>
            </a:r>
          </a:p>
        </p:txBody>
      </p:sp>
      <p:sp>
        <p:nvSpPr>
          <p:cNvPr id="53" name="rect"/>
          <p:cNvSpPr/>
          <p:nvPr/>
        </p:nvSpPr>
        <p:spPr>
          <a:xfrm>
            <a:off x="3901440" y="2667000"/>
            <a:ext cx="1426464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54" name="text"/>
          <p:cNvSpPr txBox="1"/>
          <p:nvPr/>
        </p:nvSpPr>
        <p:spPr>
          <a:xfrm>
            <a:off x="3977640" y="2714625"/>
            <a:ext cx="1274064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100.0%</a:t>
            </a:r>
          </a:p>
        </p:txBody>
      </p:sp>
      <p:sp>
        <p:nvSpPr>
          <p:cNvPr id="55" name="rect"/>
          <p:cNvSpPr/>
          <p:nvPr/>
        </p:nvSpPr>
        <p:spPr>
          <a:xfrm>
            <a:off x="5327904" y="2667000"/>
            <a:ext cx="1536192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56" name="text"/>
          <p:cNvSpPr txBox="1"/>
          <p:nvPr/>
        </p:nvSpPr>
        <p:spPr>
          <a:xfrm>
            <a:off x="5404104" y="2714625"/>
            <a:ext cx="1383792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92.8%</a:t>
            </a:r>
          </a:p>
        </p:txBody>
      </p:sp>
      <p:sp>
        <p:nvSpPr>
          <p:cNvPr id="57" name="rect"/>
          <p:cNvSpPr/>
          <p:nvPr/>
        </p:nvSpPr>
        <p:spPr>
          <a:xfrm>
            <a:off x="6864096" y="2667000"/>
            <a:ext cx="1426464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58" name="text"/>
          <p:cNvSpPr txBox="1"/>
          <p:nvPr/>
        </p:nvSpPr>
        <p:spPr>
          <a:xfrm>
            <a:off x="6940296" y="2714625"/>
            <a:ext cx="1274064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95.4%</a:t>
            </a:r>
          </a:p>
        </p:txBody>
      </p:sp>
      <p:sp>
        <p:nvSpPr>
          <p:cNvPr id="59" name="rect"/>
          <p:cNvSpPr/>
          <p:nvPr/>
        </p:nvSpPr>
        <p:spPr>
          <a:xfrm>
            <a:off x="8290560" y="2667000"/>
            <a:ext cx="1316736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60" name="text"/>
          <p:cNvSpPr txBox="1"/>
          <p:nvPr/>
        </p:nvSpPr>
        <p:spPr>
          <a:xfrm>
            <a:off x="8366760" y="2714625"/>
            <a:ext cx="1164336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94.1%</a:t>
            </a:r>
          </a:p>
        </p:txBody>
      </p:sp>
      <p:sp>
        <p:nvSpPr>
          <p:cNvPr id="61" name="rect"/>
          <p:cNvSpPr/>
          <p:nvPr/>
        </p:nvSpPr>
        <p:spPr>
          <a:xfrm>
            <a:off x="9607296" y="2667000"/>
            <a:ext cx="1975104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62" name="text"/>
          <p:cNvSpPr txBox="1"/>
          <p:nvPr/>
        </p:nvSpPr>
        <p:spPr>
          <a:xfrm>
            <a:off x="9683496" y="2714625"/>
            <a:ext cx="1822704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9.8 ms</a:t>
            </a:r>
          </a:p>
        </p:txBody>
      </p:sp>
      <p:sp>
        <p:nvSpPr>
          <p:cNvPr id="63" name="rect"/>
          <p:cNvSpPr/>
          <p:nvPr/>
        </p:nvSpPr>
        <p:spPr>
          <a:xfrm>
            <a:off x="609600" y="3009900"/>
            <a:ext cx="2194560" cy="342900"/>
          </a:xfrm>
          <a:prstGeom prst="rect">
            <a:avLst/>
          </a:prstGeom>
          <a:solidFill>
            <a:srgbClr val="F1F5F2"/>
          </a:solidFill>
          <a:ln w="9525">
            <a:solidFill>
              <a:srgbClr val="D7D7CC"/>
            </a:solidFill>
          </a:ln>
        </p:spPr>
      </p:sp>
      <p:sp>
        <p:nvSpPr>
          <p:cNvPr id="64" name="text"/>
          <p:cNvSpPr txBox="1"/>
          <p:nvPr/>
        </p:nvSpPr>
        <p:spPr>
          <a:xfrm>
            <a:off x="685800" y="3057525"/>
            <a:ext cx="204216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111827"/>
                </a:solidFill>
                <a:latin typeface="Aptos"/>
                <a:cs typeface="Aptos"/>
              </a:rPr>
              <a:t>u_shape_noisy</a:t>
            </a:r>
          </a:p>
        </p:txBody>
      </p:sp>
      <p:sp>
        <p:nvSpPr>
          <p:cNvPr id="65" name="rect"/>
          <p:cNvSpPr/>
          <p:nvPr/>
        </p:nvSpPr>
        <p:spPr>
          <a:xfrm>
            <a:off x="2804160" y="3009900"/>
            <a:ext cx="1097280" cy="342900"/>
          </a:xfrm>
          <a:prstGeom prst="rect">
            <a:avLst/>
          </a:prstGeom>
          <a:solidFill>
            <a:srgbClr val="F1F5F2"/>
          </a:solidFill>
          <a:ln w="9525">
            <a:solidFill>
              <a:srgbClr val="D7D7CC"/>
            </a:solidFill>
          </a:ln>
        </p:spPr>
      </p:sp>
      <p:sp>
        <p:nvSpPr>
          <p:cNvPr id="66" name="text"/>
          <p:cNvSpPr txBox="1"/>
          <p:nvPr/>
        </p:nvSpPr>
        <p:spPr>
          <a:xfrm>
            <a:off x="2880360" y="3057525"/>
            <a:ext cx="94488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32</a:t>
            </a:r>
          </a:p>
        </p:txBody>
      </p:sp>
      <p:sp>
        <p:nvSpPr>
          <p:cNvPr id="67" name="rect"/>
          <p:cNvSpPr/>
          <p:nvPr/>
        </p:nvSpPr>
        <p:spPr>
          <a:xfrm>
            <a:off x="3901440" y="3009900"/>
            <a:ext cx="1426464" cy="342900"/>
          </a:xfrm>
          <a:prstGeom prst="rect">
            <a:avLst/>
          </a:prstGeom>
          <a:solidFill>
            <a:srgbClr val="F1F5F2"/>
          </a:solidFill>
          <a:ln w="9525">
            <a:solidFill>
              <a:srgbClr val="D7D7CC"/>
            </a:solidFill>
          </a:ln>
        </p:spPr>
      </p:sp>
      <p:sp>
        <p:nvSpPr>
          <p:cNvPr id="68" name="text"/>
          <p:cNvSpPr txBox="1"/>
          <p:nvPr/>
        </p:nvSpPr>
        <p:spPr>
          <a:xfrm>
            <a:off x="3977640" y="3057525"/>
            <a:ext cx="1274064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100.0%</a:t>
            </a:r>
          </a:p>
        </p:txBody>
      </p:sp>
      <p:sp>
        <p:nvSpPr>
          <p:cNvPr id="69" name="rect"/>
          <p:cNvSpPr/>
          <p:nvPr/>
        </p:nvSpPr>
        <p:spPr>
          <a:xfrm>
            <a:off x="5327904" y="3009900"/>
            <a:ext cx="1536192" cy="342900"/>
          </a:xfrm>
          <a:prstGeom prst="rect">
            <a:avLst/>
          </a:prstGeom>
          <a:solidFill>
            <a:srgbClr val="F1F5F2"/>
          </a:solidFill>
          <a:ln w="9525">
            <a:solidFill>
              <a:srgbClr val="D7D7CC"/>
            </a:solidFill>
          </a:ln>
        </p:spPr>
      </p:sp>
      <p:sp>
        <p:nvSpPr>
          <p:cNvPr id="70" name="text"/>
          <p:cNvSpPr txBox="1"/>
          <p:nvPr/>
        </p:nvSpPr>
        <p:spPr>
          <a:xfrm>
            <a:off x="5404104" y="3057525"/>
            <a:ext cx="1383792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93.3%</a:t>
            </a:r>
          </a:p>
        </p:txBody>
      </p:sp>
      <p:sp>
        <p:nvSpPr>
          <p:cNvPr id="71" name="rect"/>
          <p:cNvSpPr/>
          <p:nvPr/>
        </p:nvSpPr>
        <p:spPr>
          <a:xfrm>
            <a:off x="6864096" y="3009900"/>
            <a:ext cx="1426464" cy="342900"/>
          </a:xfrm>
          <a:prstGeom prst="rect">
            <a:avLst/>
          </a:prstGeom>
          <a:solidFill>
            <a:srgbClr val="F1F5F2"/>
          </a:solidFill>
          <a:ln w="9525">
            <a:solidFill>
              <a:srgbClr val="D7D7CC"/>
            </a:solidFill>
          </a:ln>
        </p:spPr>
      </p:sp>
      <p:sp>
        <p:nvSpPr>
          <p:cNvPr id="72" name="text"/>
          <p:cNvSpPr txBox="1"/>
          <p:nvPr/>
        </p:nvSpPr>
        <p:spPr>
          <a:xfrm>
            <a:off x="6940296" y="3057525"/>
            <a:ext cx="1274064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96.4%</a:t>
            </a:r>
          </a:p>
        </p:txBody>
      </p:sp>
      <p:sp>
        <p:nvSpPr>
          <p:cNvPr id="73" name="rect"/>
          <p:cNvSpPr/>
          <p:nvPr/>
        </p:nvSpPr>
        <p:spPr>
          <a:xfrm>
            <a:off x="8290560" y="3009900"/>
            <a:ext cx="1316736" cy="342900"/>
          </a:xfrm>
          <a:prstGeom prst="rect">
            <a:avLst/>
          </a:prstGeom>
          <a:solidFill>
            <a:srgbClr val="F1F5F2"/>
          </a:solidFill>
          <a:ln w="9525">
            <a:solidFill>
              <a:srgbClr val="D7D7CC"/>
            </a:solidFill>
          </a:ln>
        </p:spPr>
      </p:sp>
      <p:sp>
        <p:nvSpPr>
          <p:cNvPr id="74" name="text"/>
          <p:cNvSpPr txBox="1"/>
          <p:nvPr/>
        </p:nvSpPr>
        <p:spPr>
          <a:xfrm>
            <a:off x="8366760" y="3057525"/>
            <a:ext cx="1164336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94.8%</a:t>
            </a:r>
          </a:p>
        </p:txBody>
      </p:sp>
      <p:sp>
        <p:nvSpPr>
          <p:cNvPr id="75" name="rect"/>
          <p:cNvSpPr/>
          <p:nvPr/>
        </p:nvSpPr>
        <p:spPr>
          <a:xfrm>
            <a:off x="9607296" y="3009900"/>
            <a:ext cx="1975104" cy="342900"/>
          </a:xfrm>
          <a:prstGeom prst="rect">
            <a:avLst/>
          </a:prstGeom>
          <a:solidFill>
            <a:srgbClr val="F1F5F2"/>
          </a:solidFill>
          <a:ln w="9525">
            <a:solidFill>
              <a:srgbClr val="D7D7CC"/>
            </a:solidFill>
          </a:ln>
        </p:spPr>
      </p:sp>
      <p:sp>
        <p:nvSpPr>
          <p:cNvPr id="76" name="text"/>
          <p:cNvSpPr txBox="1"/>
          <p:nvPr/>
        </p:nvSpPr>
        <p:spPr>
          <a:xfrm>
            <a:off x="9683496" y="3057525"/>
            <a:ext cx="1822704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9.7 ms</a:t>
            </a:r>
          </a:p>
        </p:txBody>
      </p:sp>
      <p:sp>
        <p:nvSpPr>
          <p:cNvPr id="77" name="text"/>
          <p:cNvSpPr txBox="1"/>
          <p:nvPr/>
        </p:nvSpPr>
        <p:spPr>
          <a:xfrm>
            <a:off x="609600" y="3657600"/>
            <a:ext cx="5905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1" dirty="0">
                <a:solidFill>
                  <a:srgbClr val="111827"/>
                </a:solidFill>
                <a:latin typeface="Aptos"/>
                <a:cs typeface="Aptos"/>
              </a:rPr>
              <a:t>Noisy U-shape F1 under implementation choices</a:t>
            </a:r>
          </a:p>
        </p:txBody>
      </p:sp>
      <p:sp>
        <p:nvSpPr>
          <p:cNvPr id="78" name="text"/>
          <p:cNvSpPr txBox="1"/>
          <p:nvPr/>
        </p:nvSpPr>
        <p:spPr>
          <a:xfrm>
            <a:off x="609600" y="3943350"/>
            <a:ext cx="1885950" cy="25082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111827"/>
                </a:solidFill>
                <a:latin typeface="Aptos"/>
                <a:cs typeface="Aptos"/>
              </a:rPr>
              <a:t>paper defaults</a:t>
            </a:r>
          </a:p>
        </p:txBody>
      </p:sp>
      <p:sp>
        <p:nvSpPr>
          <p:cNvPr id="79" name="rect"/>
          <p:cNvSpPr/>
          <p:nvPr/>
        </p:nvSpPr>
        <p:spPr>
          <a:xfrm>
            <a:off x="2609850" y="3981450"/>
            <a:ext cx="3276600" cy="174625"/>
          </a:xfrm>
          <a:prstGeom prst="rect">
            <a:avLst/>
          </a:prstGeom>
          <a:solidFill>
            <a:srgbClr val="E5E7EB"/>
          </a:solidFill>
          <a:ln w="9525">
            <a:solidFill>
              <a:srgbClr val="E5E7EB"/>
            </a:solidFill>
          </a:ln>
        </p:spPr>
      </p:sp>
      <p:sp>
        <p:nvSpPr>
          <p:cNvPr id="80" name="rect"/>
          <p:cNvSpPr/>
          <p:nvPr/>
        </p:nvSpPr>
        <p:spPr>
          <a:xfrm>
            <a:off x="2609850" y="3981450"/>
            <a:ext cx="3106872" cy="174625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</p:sp>
      <p:sp>
        <p:nvSpPr>
          <p:cNvPr id="81" name="text"/>
          <p:cNvSpPr txBox="1"/>
          <p:nvPr/>
        </p:nvSpPr>
        <p:spPr>
          <a:xfrm>
            <a:off x="5943600" y="3943350"/>
            <a:ext cx="571500" cy="25082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111827"/>
                </a:solidFill>
                <a:latin typeface="Aptos"/>
                <a:cs typeface="Aptos"/>
              </a:rPr>
              <a:t>94.8%</a:t>
            </a:r>
          </a:p>
        </p:txBody>
      </p:sp>
      <p:sp>
        <p:nvSpPr>
          <p:cNvPr id="82" name="text"/>
          <p:cNvSpPr txBox="1"/>
          <p:nvPr/>
        </p:nvSpPr>
        <p:spPr>
          <a:xfrm>
            <a:off x="609600" y="4289425"/>
            <a:ext cx="1885950" cy="25082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111827"/>
                </a:solidFill>
                <a:latin typeface="Aptos"/>
                <a:cs typeface="Aptos"/>
              </a:rPr>
              <a:t>2 iterations</a:t>
            </a:r>
          </a:p>
        </p:txBody>
      </p:sp>
      <p:sp>
        <p:nvSpPr>
          <p:cNvPr id="83" name="rect"/>
          <p:cNvSpPr/>
          <p:nvPr/>
        </p:nvSpPr>
        <p:spPr>
          <a:xfrm>
            <a:off x="2609850" y="4327525"/>
            <a:ext cx="3276600" cy="174625"/>
          </a:xfrm>
          <a:prstGeom prst="rect">
            <a:avLst/>
          </a:prstGeom>
          <a:solidFill>
            <a:srgbClr val="E5E7EB"/>
          </a:solidFill>
          <a:ln w="9525">
            <a:solidFill>
              <a:srgbClr val="E5E7EB"/>
            </a:solidFill>
          </a:ln>
        </p:spPr>
      </p:sp>
      <p:sp>
        <p:nvSpPr>
          <p:cNvPr id="84" name="rect"/>
          <p:cNvSpPr/>
          <p:nvPr/>
        </p:nvSpPr>
        <p:spPr>
          <a:xfrm>
            <a:off x="2609850" y="4327525"/>
            <a:ext cx="2694021" cy="174625"/>
          </a:xfrm>
          <a:prstGeom prst="rect">
            <a:avLst/>
          </a:prstGeom>
          <a:solidFill>
            <a:srgbClr val="B91C1C"/>
          </a:solidFill>
          <a:ln w="9525">
            <a:solidFill>
              <a:srgbClr val="B91C1C"/>
            </a:solidFill>
          </a:ln>
        </p:spPr>
      </p:sp>
      <p:sp>
        <p:nvSpPr>
          <p:cNvPr id="85" name="text"/>
          <p:cNvSpPr txBox="1"/>
          <p:nvPr/>
        </p:nvSpPr>
        <p:spPr>
          <a:xfrm>
            <a:off x="5943600" y="4289425"/>
            <a:ext cx="571500" cy="25082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111827"/>
                </a:solidFill>
                <a:latin typeface="Aptos"/>
                <a:cs typeface="Aptos"/>
              </a:rPr>
              <a:t>82.2%</a:t>
            </a:r>
          </a:p>
        </p:txBody>
      </p:sp>
      <p:sp>
        <p:nvSpPr>
          <p:cNvPr id="86" name="text"/>
          <p:cNvSpPr txBox="1"/>
          <p:nvPr/>
        </p:nvSpPr>
        <p:spPr>
          <a:xfrm>
            <a:off x="609600" y="4635500"/>
            <a:ext cx="1885950" cy="25082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111827"/>
                </a:solidFill>
                <a:latin typeface="Aptos"/>
                <a:cs typeface="Aptos"/>
              </a:rPr>
              <a:t>8 scan lines</a:t>
            </a:r>
          </a:p>
        </p:txBody>
      </p:sp>
      <p:sp>
        <p:nvSpPr>
          <p:cNvPr id="87" name="rect"/>
          <p:cNvSpPr/>
          <p:nvPr/>
        </p:nvSpPr>
        <p:spPr>
          <a:xfrm>
            <a:off x="2609850" y="4673600"/>
            <a:ext cx="3276600" cy="174625"/>
          </a:xfrm>
          <a:prstGeom prst="rect">
            <a:avLst/>
          </a:prstGeom>
          <a:solidFill>
            <a:srgbClr val="E5E7EB"/>
          </a:solidFill>
          <a:ln w="9525">
            <a:solidFill>
              <a:srgbClr val="E5E7EB"/>
            </a:solidFill>
          </a:ln>
        </p:spPr>
      </p:sp>
      <p:sp>
        <p:nvSpPr>
          <p:cNvPr id="88" name="rect"/>
          <p:cNvSpPr/>
          <p:nvPr/>
        </p:nvSpPr>
        <p:spPr>
          <a:xfrm>
            <a:off x="2609850" y="4673600"/>
            <a:ext cx="3167489" cy="174625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</p:sp>
      <p:sp>
        <p:nvSpPr>
          <p:cNvPr id="89" name="text"/>
          <p:cNvSpPr txBox="1"/>
          <p:nvPr/>
        </p:nvSpPr>
        <p:spPr>
          <a:xfrm>
            <a:off x="5943600" y="4635500"/>
            <a:ext cx="571500" cy="25082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111827"/>
                </a:solidFill>
                <a:latin typeface="Aptos"/>
                <a:cs typeface="Aptos"/>
              </a:rPr>
              <a:t>96.7%</a:t>
            </a:r>
          </a:p>
        </p:txBody>
      </p:sp>
      <p:sp>
        <p:nvSpPr>
          <p:cNvPr id="90" name="text"/>
          <p:cNvSpPr txBox="1"/>
          <p:nvPr/>
        </p:nvSpPr>
        <p:spPr>
          <a:xfrm>
            <a:off x="609600" y="4981575"/>
            <a:ext cx="1885950" cy="25082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111827"/>
                </a:solidFill>
                <a:latin typeface="Aptos"/>
                <a:cs typeface="Aptos"/>
              </a:rPr>
              <a:t>angle ordering</a:t>
            </a:r>
          </a:p>
        </p:txBody>
      </p:sp>
      <p:sp>
        <p:nvSpPr>
          <p:cNvPr id="91" name="rect"/>
          <p:cNvSpPr/>
          <p:nvPr/>
        </p:nvSpPr>
        <p:spPr>
          <a:xfrm>
            <a:off x="2609850" y="5019675"/>
            <a:ext cx="3276600" cy="174625"/>
          </a:xfrm>
          <a:prstGeom prst="rect">
            <a:avLst/>
          </a:prstGeom>
          <a:solidFill>
            <a:srgbClr val="E5E7EB"/>
          </a:solidFill>
          <a:ln w="9525">
            <a:solidFill>
              <a:srgbClr val="E5E7EB"/>
            </a:solidFill>
          </a:ln>
        </p:spPr>
      </p:sp>
      <p:sp>
        <p:nvSpPr>
          <p:cNvPr id="92" name="rect"/>
          <p:cNvSpPr/>
          <p:nvPr/>
        </p:nvSpPr>
        <p:spPr>
          <a:xfrm>
            <a:off x="2609850" y="5019675"/>
            <a:ext cx="3187476" cy="174625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</p:sp>
      <p:sp>
        <p:nvSpPr>
          <p:cNvPr id="93" name="text"/>
          <p:cNvSpPr txBox="1"/>
          <p:nvPr/>
        </p:nvSpPr>
        <p:spPr>
          <a:xfrm>
            <a:off x="5943600" y="4981575"/>
            <a:ext cx="571500" cy="25082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111827"/>
                </a:solidFill>
                <a:latin typeface="Aptos"/>
                <a:cs typeface="Aptos"/>
              </a:rPr>
              <a:t>97.3%</a:t>
            </a:r>
          </a:p>
        </p:txBody>
      </p:sp>
      <p:sp>
        <p:nvSpPr>
          <p:cNvPr id="94" name="text"/>
          <p:cNvSpPr txBox="1"/>
          <p:nvPr/>
        </p:nvSpPr>
        <p:spPr>
          <a:xfrm>
            <a:off x="609600" y="5327650"/>
            <a:ext cx="1885950" cy="25082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111827"/>
                </a:solidFill>
                <a:latin typeface="Aptos"/>
                <a:cs typeface="Aptos"/>
              </a:rPr>
              <a:t>graph SCF (ext.)</a:t>
            </a:r>
          </a:p>
        </p:txBody>
      </p:sp>
      <p:sp>
        <p:nvSpPr>
          <p:cNvPr id="95" name="rect"/>
          <p:cNvSpPr/>
          <p:nvPr/>
        </p:nvSpPr>
        <p:spPr>
          <a:xfrm>
            <a:off x="2609850" y="5365750"/>
            <a:ext cx="3276600" cy="174625"/>
          </a:xfrm>
          <a:prstGeom prst="rect">
            <a:avLst/>
          </a:prstGeom>
          <a:solidFill>
            <a:srgbClr val="E5E7EB"/>
          </a:solidFill>
          <a:ln w="9525">
            <a:solidFill>
              <a:srgbClr val="E5E7EB"/>
            </a:solidFill>
          </a:ln>
        </p:spPr>
      </p:sp>
      <p:sp>
        <p:nvSpPr>
          <p:cNvPr id="96" name="rect"/>
          <p:cNvSpPr/>
          <p:nvPr/>
        </p:nvSpPr>
        <p:spPr>
          <a:xfrm>
            <a:off x="2609850" y="5365750"/>
            <a:ext cx="3246455" cy="174625"/>
          </a:xfrm>
          <a:prstGeom prst="rect">
            <a:avLst/>
          </a:prstGeom>
          <a:solidFill>
            <a:srgbClr val="1D4ED8"/>
          </a:solidFill>
          <a:ln w="9525">
            <a:solidFill>
              <a:srgbClr val="1D4ED8"/>
            </a:solidFill>
          </a:ln>
        </p:spPr>
      </p:sp>
      <p:sp>
        <p:nvSpPr>
          <p:cNvPr id="97" name="text"/>
          <p:cNvSpPr txBox="1"/>
          <p:nvPr/>
        </p:nvSpPr>
        <p:spPr>
          <a:xfrm>
            <a:off x="5943600" y="5327650"/>
            <a:ext cx="571500" cy="25082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111827"/>
                </a:solidFill>
                <a:latin typeface="Aptos"/>
                <a:cs typeface="Aptos"/>
              </a:rPr>
              <a:t>99.1%</a:t>
            </a:r>
          </a:p>
        </p:txBody>
      </p:sp>
      <p:sp>
        <p:nvSpPr>
          <p:cNvPr id="98" name="text"/>
          <p:cNvSpPr txBox="1"/>
          <p:nvPr/>
        </p:nvSpPr>
        <p:spPr>
          <a:xfrm>
            <a:off x="609600" y="5673725"/>
            <a:ext cx="1885950" cy="25082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111827"/>
                </a:solidFill>
                <a:latin typeface="Aptos"/>
                <a:cs typeface="Aptos"/>
              </a:rPr>
              <a:t>improved IEPS (ext.)</a:t>
            </a:r>
          </a:p>
        </p:txBody>
      </p:sp>
      <p:sp>
        <p:nvSpPr>
          <p:cNvPr id="99" name="rect"/>
          <p:cNvSpPr/>
          <p:nvPr/>
        </p:nvSpPr>
        <p:spPr>
          <a:xfrm>
            <a:off x="2609850" y="5711825"/>
            <a:ext cx="3276600" cy="174625"/>
          </a:xfrm>
          <a:prstGeom prst="rect">
            <a:avLst/>
          </a:prstGeom>
          <a:solidFill>
            <a:srgbClr val="E5E7EB"/>
          </a:solidFill>
          <a:ln w="9525">
            <a:solidFill>
              <a:srgbClr val="E5E7EB"/>
            </a:solidFill>
          </a:ln>
        </p:spPr>
      </p:sp>
      <p:sp>
        <p:nvSpPr>
          <p:cNvPr id="100" name="rect"/>
          <p:cNvSpPr/>
          <p:nvPr/>
        </p:nvSpPr>
        <p:spPr>
          <a:xfrm>
            <a:off x="2609850" y="5711825"/>
            <a:ext cx="3272340" cy="174625"/>
          </a:xfrm>
          <a:prstGeom prst="rect">
            <a:avLst/>
          </a:prstGeom>
          <a:solidFill>
            <a:srgbClr val="1D4ED8"/>
          </a:solidFill>
          <a:ln w="9525">
            <a:solidFill>
              <a:srgbClr val="1D4ED8"/>
            </a:solidFill>
          </a:ln>
        </p:spPr>
      </p:sp>
      <p:sp>
        <p:nvSpPr>
          <p:cNvPr id="101" name="text"/>
          <p:cNvSpPr txBox="1"/>
          <p:nvPr/>
        </p:nvSpPr>
        <p:spPr>
          <a:xfrm>
            <a:off x="5943600" y="5673725"/>
            <a:ext cx="571500" cy="25082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1" dirty="0">
                <a:solidFill>
                  <a:srgbClr val="111827"/>
                </a:solidFill>
                <a:latin typeface="Aptos"/>
                <a:cs typeface="Aptos"/>
              </a:rPr>
              <a:t>99.9%</a:t>
            </a:r>
          </a:p>
        </p:txBody>
      </p:sp>
      <p:sp>
        <p:nvSpPr>
          <p:cNvPr id="102" name="rect"/>
          <p:cNvSpPr/>
          <p:nvPr/>
        </p:nvSpPr>
        <p:spPr>
          <a:xfrm>
            <a:off x="6819900" y="3657600"/>
            <a:ext cx="4762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103" name="rect"/>
          <p:cNvSpPr/>
          <p:nvPr/>
        </p:nvSpPr>
        <p:spPr>
          <a:xfrm>
            <a:off x="6819900" y="3657600"/>
            <a:ext cx="57150" cy="1104900"/>
          </a:xfrm>
          <a:prstGeom prst="rect">
            <a:avLst/>
          </a:prstGeom>
          <a:solidFill>
            <a:srgbClr val="C2410C"/>
          </a:solidFill>
          <a:ln w="9525">
            <a:solidFill>
              <a:srgbClr val="C2410C"/>
            </a:solidFill>
          </a:ln>
        </p:spPr>
      </p:sp>
      <p:sp>
        <p:nvSpPr>
          <p:cNvPr id="104" name="text"/>
          <p:cNvSpPr txBox="1"/>
          <p:nvPr/>
        </p:nvSpPr>
        <p:spPr>
          <a:xfrm>
            <a:off x="6991350" y="3790950"/>
            <a:ext cx="44767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1" dirty="0">
                <a:solidFill>
                  <a:srgbClr val="111827"/>
                </a:solidFill>
                <a:latin typeface="Aptos"/>
                <a:cs typeface="Aptos"/>
              </a:rPr>
              <a:t>Sensitivity finding</a:t>
            </a:r>
          </a:p>
        </p:txBody>
      </p:sp>
      <p:sp>
        <p:nvSpPr>
          <p:cNvPr id="105" name="text"/>
          <p:cNvSpPr txBox="1"/>
          <p:nvPr/>
        </p:nvSpPr>
        <p:spPr>
          <a:xfrm>
            <a:off x="6991350" y="4076700"/>
            <a:ext cx="4457700" cy="571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Threshold 40/64/90 and stop tolerance 1-3 px shift F1 by &lt; 0.3 pts - robust. Iteration count dominates: 2 instead of 3 iterations drops F1 by ~13 pts. Point count and placement matter more than tuning.</a:t>
            </a:r>
          </a:p>
        </p:txBody>
      </p:sp>
      <p:sp>
        <p:nvSpPr>
          <p:cNvPr id="106" name="rect"/>
          <p:cNvSpPr/>
          <p:nvPr/>
        </p:nvSpPr>
        <p:spPr>
          <a:xfrm>
            <a:off x="6819900" y="4876800"/>
            <a:ext cx="47625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107" name="rect"/>
          <p:cNvSpPr/>
          <p:nvPr/>
        </p:nvSpPr>
        <p:spPr>
          <a:xfrm>
            <a:off x="6819900" y="4876800"/>
            <a:ext cx="57150" cy="118110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</p:sp>
      <p:sp>
        <p:nvSpPr>
          <p:cNvPr id="108" name="text"/>
          <p:cNvSpPr txBox="1"/>
          <p:nvPr/>
        </p:nvSpPr>
        <p:spPr>
          <a:xfrm>
            <a:off x="6991350" y="5010150"/>
            <a:ext cx="44767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1" dirty="0">
                <a:solidFill>
                  <a:srgbClr val="111827"/>
                </a:solidFill>
                <a:latin typeface="Aptos"/>
                <a:cs typeface="Aptos"/>
              </a:rPr>
              <a:t>Real vase + honesty notes</a:t>
            </a:r>
          </a:p>
        </p:txBody>
      </p:sp>
      <p:sp>
        <p:nvSpPr>
          <p:cNvPr id="109" name="text"/>
          <p:cNvSpPr txBox="1"/>
          <p:nvPr/>
        </p:nvSpPr>
        <p:spPr>
          <a:xfrm>
            <a:off x="6991350" y="5295900"/>
            <a:ext cx="4457700" cy="647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Real vase (Otsu proxy mask): paper-mode F1 93.8%. Yuen/Snake/Chen comparisons are labeled approximations; on these synthetic shapes they tie or nearly tie (Chen = proposed SCF at every SNR), so they are context, not evidence of the paper's reported gaps.</a:t>
            </a:r>
          </a:p>
        </p:txBody>
      </p:sp>
      <p:sp>
        <p:nvSpPr>
          <p:cNvPr id="110" name="text"/>
          <p:cNvSpPr txBox="1"/>
          <p:nvPr/>
        </p:nvSpPr>
        <p:spPr>
          <a:xfrm>
            <a:off x="609600" y="6134100"/>
            <a:ext cx="109728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5B6472"/>
                </a:solidFill>
                <a:latin typeface="Aptos"/>
                <a:cs typeface="Aptos"/>
              </a:rPr>
              <a:t>Extensions stay inside the authors' method: graph-search SCF 99.1% (81.9 ms) and interior-seed improved IEPS 99.9% on the noisy U-shape.</a:t>
            </a:r>
          </a:p>
        </p:txBody>
      </p:sp>
      <p:sp>
        <p:nvSpPr>
          <p:cNvPr id="111" name="text"/>
          <p:cNvSpPr txBox="1"/>
          <p:nvPr/>
        </p:nvSpPr>
        <p:spPr>
          <a:xfrm>
            <a:off x="609600" y="6553200"/>
            <a:ext cx="5905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00" dirty="0">
                <a:solidFill>
                  <a:srgbClr val="727B85"/>
                </a:solidFill>
                <a:latin typeface="Aptos"/>
                <a:cs typeface="Aptos"/>
              </a:rPr>
              <a:t>IEPS + SCF reproducibility study  |  Parth Goswami  |  09 / 10</a:t>
            </a:r>
          </a:p>
        </p:txBody>
      </p:sp>
      <p:sp>
        <p:nvSpPr>
          <p:cNvPr id="112" name="text"/>
          <p:cNvSpPr txBox="1"/>
          <p:nvPr/>
        </p:nvSpPr>
        <p:spPr>
          <a:xfrm>
            <a:off x="7239000" y="6553200"/>
            <a:ext cx="4343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dirty="0">
                <a:solidFill>
                  <a:srgbClr val="727B85"/>
                </a:solidFill>
                <a:latin typeface="Aptos"/>
                <a:cs typeface="Aptos"/>
              </a:rPr>
              <a:t>Hsu et al., ICARCV 2010 [1]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 w="9525">
            <a:solidFill>
              <a:srgbClr val="F7F7F2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609600" y="3238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1" dirty="0">
                <a:solidFill>
                  <a:srgbClr val="0F766E"/>
                </a:solidFill>
                <a:latin typeface="Aptos"/>
                <a:cs typeface="Aptos"/>
              </a:rPr>
              <a:t>CONCLUSION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09600" y="552450"/>
            <a:ext cx="109728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900" b="1" dirty="0">
                <a:solidFill>
                  <a:srgbClr val="111827"/>
                </a:solidFill>
                <a:latin typeface="Aptos"/>
                <a:cs typeface="Aptos"/>
              </a:rPr>
              <a:t>The method reproduces - once the missing rules are written down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09600" y="9906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5B6472"/>
                </a:solidFill>
                <a:latin typeface="Aptos"/>
                <a:cs typeface="Aptos"/>
              </a:rPr>
              <a:t>The reproducibility audit is the contribution: assumptions were made explicit, implemented, and measured.</a:t>
            </a:r>
          </a:p>
        </p:txBody>
      </p:sp>
      <p:sp>
        <p:nvSpPr>
          <p:cNvPr id="6" name="rect"/>
          <p:cNvSpPr/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7D7CC"/>
          </a:solidFill>
          <a:ln w="9525">
            <a:solidFill>
              <a:srgbClr val="D7D7CC"/>
            </a:solidFill>
          </a:ln>
        </p:spPr>
      </p:sp>
      <p:sp>
        <p:nvSpPr>
          <p:cNvPr id="7" name="rect"/>
          <p:cNvSpPr/>
          <p:nvPr/>
        </p:nvSpPr>
        <p:spPr>
          <a:xfrm>
            <a:off x="609600" y="1676400"/>
            <a:ext cx="3505200" cy="1504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8" name="rect"/>
          <p:cNvSpPr/>
          <p:nvPr/>
        </p:nvSpPr>
        <p:spPr>
          <a:xfrm>
            <a:off x="609600" y="1676400"/>
            <a:ext cx="57150" cy="150495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781050" y="1809750"/>
            <a:ext cx="32194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1" dirty="0">
                <a:solidFill>
                  <a:srgbClr val="111827"/>
                </a:solidFill>
                <a:latin typeface="Aptos"/>
                <a:cs typeface="Aptos"/>
              </a:rPr>
              <a:t>1 - Reproduced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781050" y="2095500"/>
            <a:ext cx="3200400" cy="971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Full IEPS + SCF pipeline from the paper description: circles reach F1 100%, the noisy U-shape 94.8% with 32/32 initial points on the true edge and ~10 ms runtime.</a:t>
            </a:r>
          </a:p>
        </p:txBody>
      </p:sp>
      <p:sp>
        <p:nvSpPr>
          <p:cNvPr id="11" name="rect"/>
          <p:cNvSpPr/>
          <p:nvPr/>
        </p:nvSpPr>
        <p:spPr>
          <a:xfrm>
            <a:off x="4343400" y="1676400"/>
            <a:ext cx="3505200" cy="1504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12" name="rect"/>
          <p:cNvSpPr/>
          <p:nvPr/>
        </p:nvSpPr>
        <p:spPr>
          <a:xfrm>
            <a:off x="4343400" y="1676400"/>
            <a:ext cx="57150" cy="150495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4514850" y="1809750"/>
            <a:ext cx="32194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1" dirty="0">
                <a:solidFill>
                  <a:srgbClr val="111827"/>
                </a:solidFill>
                <a:latin typeface="Aptos"/>
                <a:cs typeface="Aptos"/>
              </a:rPr>
              <a:t>2 - Under-specified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514850" y="2095500"/>
            <a:ext cx="3200400" cy="971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Behavior hinges on rules the paper omits: SCF stopping, tie-breaking, loop prevention, fallbacks, tolerances. Each was fixed explicitly and its effect quantified in the parameter study.</a:t>
            </a:r>
          </a:p>
        </p:txBody>
      </p:sp>
      <p:sp>
        <p:nvSpPr>
          <p:cNvPr id="15" name="rect"/>
          <p:cNvSpPr/>
          <p:nvPr/>
        </p:nvSpPr>
        <p:spPr>
          <a:xfrm>
            <a:off x="8077200" y="1676400"/>
            <a:ext cx="3505200" cy="1504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16" name="rect"/>
          <p:cNvSpPr/>
          <p:nvPr/>
        </p:nvSpPr>
        <p:spPr>
          <a:xfrm>
            <a:off x="8077200" y="1676400"/>
            <a:ext cx="57150" cy="1504950"/>
          </a:xfrm>
          <a:prstGeom prst="rect">
            <a:avLst/>
          </a:prstGeom>
          <a:solidFill>
            <a:srgbClr val="1D4ED8"/>
          </a:solidFill>
          <a:ln w="9525">
            <a:solidFill>
              <a:srgbClr val="1D4ED8"/>
            </a:solidFill>
          </a:ln>
        </p:spPr>
      </p:sp>
      <p:sp>
        <p:nvSpPr>
          <p:cNvPr id="17" name="text"/>
          <p:cNvSpPr txBox="1"/>
          <p:nvPr/>
        </p:nvSpPr>
        <p:spPr>
          <a:xfrm>
            <a:off x="8248650" y="1809750"/>
            <a:ext cx="32194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1" dirty="0">
                <a:solidFill>
                  <a:srgbClr val="111827"/>
                </a:solidFill>
                <a:latin typeface="Aptos"/>
                <a:cs typeface="Aptos"/>
              </a:rPr>
              <a:t>3 - Extension inside the method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8248650" y="2095500"/>
            <a:ext cx="3200400" cy="971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An interior distance-transform seed with denser coverage lifts the noisy U-shape to 99.9% while preserving circles - scoped to synthetic concave shapes (it does not transfer to the vase proxy).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609600" y="34861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1" dirty="0">
                <a:solidFill>
                  <a:srgbClr val="111827"/>
                </a:solidFill>
                <a:latin typeface="Aptos"/>
                <a:cs typeface="Aptos"/>
              </a:rPr>
              <a:t>References (IEEE style)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609600" y="3771900"/>
            <a:ext cx="10972800" cy="1809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[1] R. C. Hsu, P.-W. Kao, W.-J. Lai, and C.-T. Liu, "An initial edge point selection and segmental contour following for object contour extraction," in Proc. IEEE Int. Conf. Control, Automation, Robotics and Vision (ICARCV), 2010, pp. 1632-1637.</a:t>
            </a:r>
          </a:p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[2] P. C. Yuen, G. C. Feng, and J. P. Zhou, "A contour detection method: Initialization and contour model," Pattern Recognition Letters, vol. 20, no. 2, pp. 141-148, 1999.</a:t>
            </a:r>
          </a:p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[3] M. Kass, A. Witkin, and D. Terzopoulos, "Snakes: Active contour models," International Journal of Computer Vision, vol. 1, no. 4, pp. 321-331, 1988.</a:t>
            </a:r>
          </a:p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[4] B. D. Chen and P. Siy, "Forward/backward contour tracing with feedback," IEEE Trans. Pattern Analysis and Machine Intelligence, vol. 9, no. 3, pp. 438-446, 1987.</a:t>
            </a:r>
          </a:p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[5] K. S. Fu and J. K. Mui, "A survey on image segmentation," Pattern Recognition, vol. 13, pp. 3-16, 1981.</a:t>
            </a:r>
          </a:p>
        </p:txBody>
      </p:sp>
      <p:sp>
        <p:nvSpPr>
          <p:cNvPr id="21" name="rect"/>
          <p:cNvSpPr/>
          <p:nvPr/>
        </p:nvSpPr>
        <p:spPr>
          <a:xfrm>
            <a:off x="609600" y="5676900"/>
            <a:ext cx="109728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CC"/>
            </a:solidFill>
          </a:ln>
        </p:spPr>
      </p:sp>
      <p:sp>
        <p:nvSpPr>
          <p:cNvPr id="22" name="text"/>
          <p:cNvSpPr txBox="1"/>
          <p:nvPr/>
        </p:nvSpPr>
        <p:spPr>
          <a:xfrm>
            <a:off x="800100" y="5810250"/>
            <a:ext cx="105918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Aptos"/>
                <a:cs typeface="Aptos"/>
              </a:rPr>
              <a:t>Evidence: src/ieps.py, src/scf.py, src/geometry.py, main.py  |  results/tables/*.csv  |  docs/RESEARCH_REPORT.md - all regenerable with python main.py --run all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609600" y="6553200"/>
            <a:ext cx="5905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00" dirty="0">
                <a:solidFill>
                  <a:srgbClr val="727B85"/>
                </a:solidFill>
                <a:latin typeface="Aptos"/>
                <a:cs typeface="Aptos"/>
              </a:rPr>
              <a:t>IEPS + SCF reproducibility study  |  Parth Goswami  |  10 / 10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7239000" y="6553200"/>
            <a:ext cx="4343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dirty="0">
                <a:solidFill>
                  <a:srgbClr val="727B85"/>
                </a:solidFill>
                <a:latin typeface="Aptos"/>
                <a:cs typeface="Aptos"/>
              </a:rPr>
              <a:t>Hsu et al., ICARCV 2010 [1]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EPS SCF Theme">
  <a:themeElements>
    <a:clrScheme name="Custom">
      <a:dk1>
        <a:srgbClr val="111827"/>
      </a:dk1>
      <a:lt1>
        <a:srgbClr val="FFFFFF"/>
      </a:lt1>
      <a:dk2>
        <a:srgbClr val="101418"/>
      </a:dk2>
      <a:lt2>
        <a:srgbClr val="F7F7F2"/>
      </a:lt2>
      <a:accent1>
        <a:srgbClr val="0F766E"/>
      </a:accent1>
      <a:accent2>
        <a:srgbClr val="1D4ED8"/>
      </a:accent2>
      <a:accent3>
        <a:srgbClr val="B45309"/>
      </a:accent3>
      <a:accent4>
        <a:srgbClr val="C2410C"/>
      </a:accent4>
      <a:accent5>
        <a:srgbClr val="15803D"/>
      </a:accent5>
      <a:accent6>
        <a:srgbClr val="B91C1C"/>
      </a:accent6>
      <a:hlink>
        <a:srgbClr val="0563C1"/>
      </a:hlink>
      <a:folHlink>
        <a:srgbClr val="954F72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IEPS SCF Builder</Application>
  <PresentationFormat>On-screen Show (16:9)</PresentationFormat>
  <Slides>10</Slides>
  <Notes>0</Notes>
  <HiddenSlides>0</HiddenSlides>
  <ScaleCrop>false</ScaleCrop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Reimplementation and Validation of IEPS + SCF</dc:title>
  <dc:creator>Parth Goswami</dc:creator>
  <cp:lastModifiedBy>Parth Goswami</cp:lastModifiedBy>
  <dcterms:created xsi:type="dcterms:W3CDTF">2026-07-04T14:16:38Z</dcterms:created>
  <dcterms:modified xsi:type="dcterms:W3CDTF">2026-07-04T14:16:38Z</dcterms:modified>
</cp:coreProperties>
</file>